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7736"/>
            <a:ext cx="680085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9482"/>
            <a:ext cx="680085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9210" y="9944862"/>
            <a:ext cx="2418080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0680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36509" y="3715152"/>
            <a:ext cx="5490210" cy="3206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u="heavy" sz="1900">
                <a:uFill>
                  <a:solidFill>
                    <a:srgbClr val="4F576B"/>
                  </a:solidFill>
                </a:uFill>
                <a:latin typeface="Arial MT"/>
                <a:cs typeface="Arial MT"/>
              </a:rPr>
              <a:t>Capstone</a:t>
            </a:r>
            <a:r>
              <a:rPr dirty="0" u="heavy" sz="1900" spc="160">
                <a:uFill>
                  <a:solidFill>
                    <a:srgbClr val="4F576B"/>
                  </a:solidFill>
                </a:uFill>
                <a:latin typeface="Arial MT"/>
                <a:cs typeface="Arial MT"/>
              </a:rPr>
              <a:t> </a:t>
            </a:r>
            <a:r>
              <a:rPr dirty="0" u="heavy" sz="1900" spc="50">
                <a:uFill>
                  <a:solidFill>
                    <a:srgbClr val="4F576B"/>
                  </a:solidFill>
                </a:uFill>
                <a:latin typeface="Arial MT"/>
                <a:cs typeface="Arial MT"/>
              </a:rPr>
              <a:t>Project:</a:t>
            </a:r>
            <a:r>
              <a:rPr dirty="0" u="heavy" sz="1900" spc="235">
                <a:uFill>
                  <a:solidFill>
                    <a:srgbClr val="4F576B"/>
                  </a:solidFill>
                </a:uFill>
                <a:latin typeface="Arial MT"/>
                <a:cs typeface="Arial MT"/>
              </a:rPr>
              <a:t> </a:t>
            </a:r>
            <a:r>
              <a:rPr dirty="0" u="heavy" sz="1900" spc="-10">
                <a:uFill>
                  <a:solidFill>
                    <a:srgbClr val="4F576B"/>
                  </a:solidFill>
                </a:uFill>
                <a:latin typeface="Arial MT"/>
                <a:cs typeface="Arial MT"/>
              </a:rPr>
              <a:t>Warsaw</a:t>
            </a:r>
            <a:r>
              <a:rPr dirty="0" u="heavy" sz="1900" spc="210">
                <a:uFill>
                  <a:solidFill>
                    <a:srgbClr val="4F576B"/>
                  </a:solidFill>
                </a:uFill>
                <a:latin typeface="Arial MT"/>
                <a:cs typeface="Arial MT"/>
              </a:rPr>
              <a:t> </a:t>
            </a:r>
            <a:r>
              <a:rPr dirty="0" u="heavy" sz="1900">
                <a:uFill>
                  <a:solidFill>
                    <a:srgbClr val="4F576B"/>
                  </a:solidFill>
                </a:uFill>
                <a:latin typeface="Arial MT"/>
                <a:cs typeface="Arial MT"/>
              </a:rPr>
              <a:t>EV</a:t>
            </a:r>
            <a:r>
              <a:rPr dirty="0" u="heavy" sz="1900" spc="145">
                <a:uFill>
                  <a:solidFill>
                    <a:srgbClr val="4F576B"/>
                  </a:solidFill>
                </a:uFill>
                <a:latin typeface="Arial MT"/>
                <a:cs typeface="Arial MT"/>
              </a:rPr>
              <a:t> </a:t>
            </a:r>
            <a:r>
              <a:rPr dirty="0" u="heavy" sz="1900">
                <a:uFill>
                  <a:solidFill>
                    <a:srgbClr val="4F576B"/>
                  </a:solidFill>
                </a:uFill>
                <a:latin typeface="Arial MT"/>
                <a:cs typeface="Arial MT"/>
              </a:rPr>
              <a:t>Cha</a:t>
            </a:r>
            <a:r>
              <a:rPr dirty="0" sz="1900">
                <a:latin typeface="Arial MT"/>
                <a:cs typeface="Arial MT"/>
              </a:rPr>
              <a:t>rgng</a:t>
            </a:r>
            <a:r>
              <a:rPr dirty="0" sz="1900" spc="-204">
                <a:latin typeface="Arial MT"/>
                <a:cs typeface="Arial MT"/>
              </a:rPr>
              <a:t> </a:t>
            </a:r>
            <a:r>
              <a:rPr dirty="0" u="heavy" sz="1900" spc="-155">
                <a:uFill>
                  <a:solidFill>
                    <a:srgbClr val="4F576B"/>
                  </a:solidFill>
                </a:uFill>
                <a:latin typeface="Arial MT"/>
                <a:cs typeface="Arial MT"/>
              </a:rPr>
              <a:t> </a:t>
            </a:r>
            <a:r>
              <a:rPr dirty="0" u="heavy" sz="1900" spc="-10">
                <a:uFill>
                  <a:solidFill>
                    <a:srgbClr val="4F576B"/>
                  </a:solidFill>
                </a:uFill>
                <a:latin typeface="Arial MT"/>
                <a:cs typeface="Arial MT"/>
              </a:rPr>
              <a:t>Ana</a:t>
            </a:r>
            <a:r>
              <a:rPr dirty="0" sz="1900" spc="-10">
                <a:latin typeface="Arial MT"/>
                <a:cs typeface="Arial MT"/>
              </a:rPr>
              <a:t>ly</a:t>
            </a:r>
            <a:r>
              <a:rPr dirty="0" u="heavy" sz="1900" spc="-10">
                <a:uFill>
                  <a:solidFill>
                    <a:srgbClr val="4F576B"/>
                  </a:solidFill>
                </a:uFill>
                <a:latin typeface="Arial MT"/>
                <a:cs typeface="Arial MT"/>
              </a:rPr>
              <a:t>tics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888" y="4460458"/>
            <a:ext cx="7129145" cy="10668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105"/>
              </a:spcBef>
            </a:pPr>
            <a:r>
              <a:rPr dirty="0" sz="1700" spc="-10">
                <a:solidFill>
                  <a:srgbClr val="3497DB"/>
                </a:solidFill>
                <a:latin typeface="Arial MT"/>
                <a:cs typeface="Arial MT"/>
              </a:rPr>
              <a:t>Introduction</a:t>
            </a:r>
            <a:endParaRPr sz="1700">
              <a:latin typeface="Arial MT"/>
              <a:cs typeface="Arial MT"/>
            </a:endParaRPr>
          </a:p>
          <a:p>
            <a:pPr marL="12700" marR="5080" indent="8255">
              <a:lnSpc>
                <a:spcPct val="115799"/>
              </a:lnSpc>
              <a:spcBef>
                <a:spcPts val="665"/>
              </a:spcBef>
            </a:pPr>
            <a:r>
              <a:rPr dirty="0" sz="1050" spc="-135">
                <a:latin typeface="Arial MT"/>
                <a:cs typeface="Arial MT"/>
              </a:rPr>
              <a:t>You</a:t>
            </a:r>
            <a:r>
              <a:rPr dirty="0" sz="1050" spc="40">
                <a:latin typeface="Arial MT"/>
                <a:cs typeface="Arial MT"/>
              </a:rPr>
              <a:t> </a:t>
            </a:r>
            <a:r>
              <a:rPr dirty="0" sz="1050" spc="-40">
                <a:solidFill>
                  <a:srgbClr val="260000"/>
                </a:solidFill>
                <a:latin typeface="Arial MT"/>
                <a:cs typeface="Arial MT"/>
              </a:rPr>
              <a:t>are</a:t>
            </a:r>
            <a:r>
              <a:rPr dirty="0" sz="1050" spc="-35">
                <a:solidFill>
                  <a:srgbClr val="260000"/>
                </a:solidFill>
                <a:latin typeface="Arial MT"/>
                <a:cs typeface="Arial MT"/>
              </a:rPr>
              <a:t> </a:t>
            </a:r>
            <a:r>
              <a:rPr dirty="0" sz="1050" spc="-60">
                <a:solidFill>
                  <a:srgbClr val="8E8E26"/>
                </a:solidFill>
                <a:latin typeface="Arial MT"/>
                <a:cs typeface="Arial MT"/>
              </a:rPr>
              <a:t>working</a:t>
            </a:r>
            <a:r>
              <a:rPr dirty="0" sz="1050" spc="-10">
                <a:solidFill>
                  <a:srgbClr val="8E8E26"/>
                </a:solidFill>
                <a:latin typeface="Arial MT"/>
                <a:cs typeface="Arial MT"/>
              </a:rPr>
              <a:t> </a:t>
            </a:r>
            <a:r>
              <a:rPr dirty="0" sz="1050" spc="-75">
                <a:solidFill>
                  <a:srgbClr val="B65600"/>
                </a:solidFill>
                <a:latin typeface="Arial MT"/>
                <a:cs typeface="Arial MT"/>
              </a:rPr>
              <a:t>as</a:t>
            </a:r>
            <a:r>
              <a:rPr dirty="0" sz="1050" spc="-5">
                <a:solidFill>
                  <a:srgbClr val="B65600"/>
                </a:solidFill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a</a:t>
            </a:r>
            <a:r>
              <a:rPr dirty="0" sz="1050" spc="-65">
                <a:latin typeface="Arial MT"/>
                <a:cs typeface="Arial MT"/>
              </a:rPr>
              <a:t> </a:t>
            </a:r>
            <a:r>
              <a:rPr dirty="0" sz="1050" spc="-90">
                <a:latin typeface="Arial MT"/>
                <a:cs typeface="Arial MT"/>
              </a:rPr>
              <a:t>Data</a:t>
            </a:r>
            <a:r>
              <a:rPr dirty="0" sz="1050" spc="-10">
                <a:latin typeface="Arial MT"/>
                <a:cs typeface="Arial MT"/>
              </a:rPr>
              <a:t> </a:t>
            </a:r>
            <a:r>
              <a:rPr dirty="0" sz="1050" spc="-65">
                <a:latin typeface="Arial MT"/>
                <a:cs typeface="Arial MT"/>
              </a:rPr>
              <a:t>Analyst</a:t>
            </a:r>
            <a:r>
              <a:rPr dirty="0" sz="1050">
                <a:latin typeface="Arial MT"/>
                <a:cs typeface="Arial MT"/>
              </a:rPr>
              <a:t> </a:t>
            </a:r>
            <a:r>
              <a:rPr dirty="0" sz="1050" spc="-40">
                <a:solidFill>
                  <a:srgbClr val="B65600"/>
                </a:solidFill>
                <a:latin typeface="Arial MT"/>
                <a:cs typeface="Arial MT"/>
              </a:rPr>
              <a:t>for</a:t>
            </a:r>
            <a:r>
              <a:rPr dirty="0" sz="1050" spc="-30">
                <a:solidFill>
                  <a:srgbClr val="B65600"/>
                </a:solidFill>
                <a:latin typeface="Arial MT"/>
                <a:cs typeface="Arial MT"/>
              </a:rPr>
              <a:t> </a:t>
            </a:r>
            <a:r>
              <a:rPr dirty="0" sz="1050" spc="-60">
                <a:latin typeface="Arial MT"/>
                <a:cs typeface="Arial MT"/>
              </a:rPr>
              <a:t>Warsaw's</a:t>
            </a:r>
            <a:r>
              <a:rPr dirty="0" sz="1050" spc="45">
                <a:latin typeface="Arial MT"/>
                <a:cs typeface="Arial MT"/>
              </a:rPr>
              <a:t> </a:t>
            </a:r>
            <a:r>
              <a:rPr dirty="0" sz="1050" spc="-125">
                <a:latin typeface="Arial MT"/>
                <a:cs typeface="Arial MT"/>
              </a:rPr>
              <a:t>EV</a:t>
            </a:r>
            <a:r>
              <a:rPr dirty="0" sz="1050" spc="45">
                <a:latin typeface="Arial MT"/>
                <a:cs typeface="Arial MT"/>
              </a:rPr>
              <a:t> </a:t>
            </a:r>
            <a:r>
              <a:rPr dirty="0" sz="1050" spc="-50">
                <a:latin typeface="Arial MT"/>
                <a:cs typeface="Arial MT"/>
              </a:rPr>
              <a:t>Infrastructure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 spc="-95">
                <a:latin typeface="Arial MT"/>
                <a:cs typeface="Arial MT"/>
              </a:rPr>
              <a:t>Team,</a:t>
            </a:r>
            <a:r>
              <a:rPr dirty="0" sz="1050" spc="60">
                <a:latin typeface="Arial MT"/>
                <a:cs typeface="Arial MT"/>
              </a:rPr>
              <a:t> </a:t>
            </a:r>
            <a:r>
              <a:rPr dirty="0" sz="1050" spc="-65">
                <a:latin typeface="Arial MT"/>
                <a:cs typeface="Arial MT"/>
              </a:rPr>
              <a:t>responsible</a:t>
            </a:r>
            <a:r>
              <a:rPr dirty="0" sz="1050" spc="65">
                <a:latin typeface="Arial MT"/>
                <a:cs typeface="Arial MT"/>
              </a:rPr>
              <a:t> </a:t>
            </a:r>
            <a:r>
              <a:rPr dirty="0" sz="1050" spc="-50">
                <a:solidFill>
                  <a:srgbClr val="268EDF"/>
                </a:solidFill>
                <a:latin typeface="Arial MT"/>
                <a:cs typeface="Arial MT"/>
              </a:rPr>
              <a:t>for</a:t>
            </a:r>
            <a:r>
              <a:rPr dirty="0" sz="1050" spc="-30">
                <a:solidFill>
                  <a:srgbClr val="268EDF"/>
                </a:solidFill>
                <a:latin typeface="Arial MT"/>
                <a:cs typeface="Arial MT"/>
              </a:rPr>
              <a:t> </a:t>
            </a:r>
            <a:r>
              <a:rPr dirty="0" sz="1050" spc="-55">
                <a:latin typeface="Arial MT"/>
                <a:cs typeface="Arial MT"/>
              </a:rPr>
              <a:t>evaluating</a:t>
            </a:r>
            <a:r>
              <a:rPr dirty="0" sz="1050" spc="65">
                <a:latin typeface="Arial MT"/>
                <a:cs typeface="Arial MT"/>
              </a:rPr>
              <a:t> </a:t>
            </a:r>
            <a:r>
              <a:rPr dirty="0" sz="1050" spc="-50">
                <a:latin typeface="Arial MT"/>
                <a:cs typeface="Arial MT"/>
              </a:rPr>
              <a:t>charging</a:t>
            </a:r>
            <a:r>
              <a:rPr dirty="0" sz="1050" spc="50">
                <a:latin typeface="Arial MT"/>
                <a:cs typeface="Arial MT"/>
              </a:rPr>
              <a:t> </a:t>
            </a:r>
            <a:r>
              <a:rPr dirty="0" sz="1050" spc="-60">
                <a:latin typeface="Arial MT"/>
                <a:cs typeface="Arial MT"/>
              </a:rPr>
              <a:t>station</a:t>
            </a:r>
            <a:r>
              <a:rPr dirty="0" sz="1050" spc="15">
                <a:latin typeface="Arial MT"/>
                <a:cs typeface="Arial MT"/>
              </a:rPr>
              <a:t> </a:t>
            </a:r>
            <a:r>
              <a:rPr dirty="0" sz="1050" spc="-65">
                <a:latin typeface="Arial MT"/>
                <a:cs typeface="Arial MT"/>
              </a:rPr>
              <a:t>usage,</a:t>
            </a:r>
            <a:r>
              <a:rPr dirty="0" sz="1050" spc="2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customer </a:t>
            </a:r>
            <a:r>
              <a:rPr dirty="0" sz="1050" spc="-40">
                <a:latin typeface="Arial MT"/>
                <a:cs typeface="Arial MT"/>
              </a:rPr>
              <a:t>behavior</a:t>
            </a:r>
            <a:r>
              <a:rPr dirty="0" sz="1050" spc="185">
                <a:latin typeface="Arial MT"/>
                <a:cs typeface="Arial MT"/>
              </a:rPr>
              <a:t> </a:t>
            </a:r>
            <a:r>
              <a:rPr dirty="0" sz="1050" spc="-95">
                <a:solidFill>
                  <a:srgbClr val="0056B6"/>
                </a:solidFill>
                <a:latin typeface="Arial MT"/>
                <a:cs typeface="Arial MT"/>
              </a:rPr>
              <a:t>and</a:t>
            </a:r>
            <a:r>
              <a:rPr dirty="0" sz="1050" spc="10">
                <a:solidFill>
                  <a:srgbClr val="0056B6"/>
                </a:solidFill>
                <a:latin typeface="Arial MT"/>
                <a:cs typeface="Arial MT"/>
              </a:rPr>
              <a:t> </a:t>
            </a:r>
            <a:r>
              <a:rPr dirty="0" sz="1050" spc="-50">
                <a:latin typeface="Arial MT"/>
                <a:cs typeface="Arial MT"/>
              </a:rPr>
              <a:t>infrastructure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 spc="-55">
                <a:latin typeface="Arial MT"/>
                <a:cs typeface="Arial MT"/>
              </a:rPr>
              <a:t>readiness</a:t>
            </a:r>
            <a:r>
              <a:rPr dirty="0" sz="1050" spc="35">
                <a:latin typeface="Arial MT"/>
                <a:cs typeface="Arial MT"/>
              </a:rPr>
              <a:t> </a:t>
            </a:r>
            <a:r>
              <a:rPr dirty="0" sz="1050" spc="-65">
                <a:latin typeface="Arial MT"/>
                <a:cs typeface="Arial MT"/>
              </a:rPr>
              <a:t>across</a:t>
            </a:r>
            <a:r>
              <a:rPr dirty="0" sz="1050" spc="10">
                <a:latin typeface="Arial MT"/>
                <a:cs typeface="Arial MT"/>
              </a:rPr>
              <a:t> </a:t>
            </a:r>
            <a:r>
              <a:rPr dirty="0" sz="1050" spc="-30">
                <a:latin typeface="Arial MT"/>
                <a:cs typeface="Arial MT"/>
              </a:rPr>
              <a:t>city</a:t>
            </a:r>
            <a:r>
              <a:rPr dirty="0" sz="1050" spc="-10">
                <a:latin typeface="Arial MT"/>
                <a:cs typeface="Arial MT"/>
              </a:rPr>
              <a:t> districts.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050">
              <a:latin typeface="Arial MT"/>
              <a:cs typeface="Arial MT"/>
            </a:endParaRPr>
          </a:p>
          <a:p>
            <a:pPr marL="20955">
              <a:lnSpc>
                <a:spcPct val="100000"/>
              </a:lnSpc>
            </a:pPr>
            <a:r>
              <a:rPr dirty="0" sz="950">
                <a:latin typeface="Arial MT"/>
                <a:cs typeface="Arial MT"/>
              </a:rPr>
              <a:t>Your</a:t>
            </a:r>
            <a:r>
              <a:rPr dirty="0" sz="950" spc="180"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000056"/>
                </a:solidFill>
                <a:latin typeface="Arial MT"/>
                <a:cs typeface="Arial MT"/>
              </a:rPr>
              <a:t>in</a:t>
            </a:r>
            <a:r>
              <a:rPr dirty="0" sz="950" spc="-50">
                <a:solidFill>
                  <a:srgbClr val="000056"/>
                </a:solidFill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sights</a:t>
            </a:r>
            <a:r>
              <a:rPr dirty="0" sz="950" spc="16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will</a:t>
            </a:r>
            <a:r>
              <a:rPr dirty="0" sz="950" spc="120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help: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65782" y="5941009"/>
            <a:ext cx="3816985" cy="986155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173990" indent="-161290">
              <a:lnSpc>
                <a:spcPct val="100000"/>
              </a:lnSpc>
              <a:spcBef>
                <a:spcPts val="755"/>
              </a:spcBef>
              <a:buClr>
                <a:srgbClr val="4F596B"/>
              </a:buClr>
              <a:buChar char="•"/>
              <a:tabLst>
                <a:tab pos="173990" algn="l"/>
              </a:tabLst>
            </a:pPr>
            <a:r>
              <a:rPr dirty="0" sz="1000" spc="-20">
                <a:latin typeface="Arial MT"/>
                <a:cs typeface="Arial MT"/>
              </a:rPr>
              <a:t>Identify</a:t>
            </a:r>
            <a:r>
              <a:rPr dirty="0" sz="1000" spc="60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high-</a:t>
            </a:r>
            <a:r>
              <a:rPr dirty="0" sz="1000" spc="-35">
                <a:latin typeface="Arial MT"/>
                <a:cs typeface="Arial MT"/>
              </a:rPr>
              <a:t>demand</a:t>
            </a:r>
            <a:r>
              <a:rPr dirty="0" sz="1000" spc="7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charging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locations</a:t>
            </a:r>
            <a:endParaRPr sz="1000">
              <a:latin typeface="Arial MT"/>
              <a:cs typeface="Arial MT"/>
            </a:endParaRPr>
          </a:p>
          <a:p>
            <a:pPr marL="177800" indent="-165100">
              <a:lnSpc>
                <a:spcPct val="100000"/>
              </a:lnSpc>
              <a:spcBef>
                <a:spcPts val="655"/>
              </a:spcBef>
              <a:buClr>
                <a:srgbClr val="4F596B"/>
              </a:buClr>
              <a:buChar char="•"/>
              <a:tabLst>
                <a:tab pos="177800" algn="l"/>
              </a:tabLst>
            </a:pPr>
            <a:r>
              <a:rPr dirty="0" sz="1000" spc="-20">
                <a:latin typeface="Arial MT"/>
                <a:cs typeface="Arial MT"/>
              </a:rPr>
              <a:t>Assess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30">
                <a:solidFill>
                  <a:srgbClr val="8E8E56"/>
                </a:solidFill>
                <a:latin typeface="Arial MT"/>
                <a:cs typeface="Arial MT"/>
              </a:rPr>
              <a:t>whether </a:t>
            </a:r>
            <a:r>
              <a:rPr dirty="0" sz="1000" spc="-25">
                <a:latin typeface="Arial MT"/>
                <a:cs typeface="Arial MT"/>
              </a:rPr>
              <a:t>current</a:t>
            </a:r>
            <a:r>
              <a:rPr dirty="0" sz="1000" spc="5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infrastructure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268EDF"/>
                </a:solidFill>
                <a:latin typeface="Arial MT"/>
                <a:cs typeface="Arial MT"/>
              </a:rPr>
              <a:t>supports</a:t>
            </a:r>
            <a:r>
              <a:rPr dirty="0" sz="1000" spc="40">
                <a:solidFill>
                  <a:srgbClr val="268EDF"/>
                </a:solidFill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projected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8E2600"/>
                </a:solidFill>
                <a:latin typeface="Arial MT"/>
                <a:cs typeface="Arial MT"/>
              </a:rPr>
              <a:t>EV</a:t>
            </a:r>
            <a:r>
              <a:rPr dirty="0" sz="1000" spc="-10">
                <a:solidFill>
                  <a:srgbClr val="8E2600"/>
                </a:solidFill>
                <a:latin typeface="Arial MT"/>
                <a:cs typeface="Arial MT"/>
              </a:rPr>
              <a:t> growth</a:t>
            </a:r>
            <a:endParaRPr sz="1000">
              <a:latin typeface="Arial MT"/>
              <a:cs typeface="Arial MT"/>
            </a:endParaRPr>
          </a:p>
          <a:p>
            <a:pPr marL="175895" indent="-163195">
              <a:lnSpc>
                <a:spcPct val="100000"/>
              </a:lnSpc>
              <a:spcBef>
                <a:spcPts val="725"/>
              </a:spcBef>
              <a:buClr>
                <a:srgbClr val="4F596B"/>
              </a:buClr>
              <a:buChar char="•"/>
              <a:tabLst>
                <a:tab pos="175895" algn="l"/>
              </a:tabLst>
            </a:pPr>
            <a:r>
              <a:rPr dirty="0" sz="1000" spc="-35">
                <a:latin typeface="Arial MT"/>
                <a:cs typeface="Arial MT"/>
              </a:rPr>
              <a:t>Understand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charging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30">
                <a:solidFill>
                  <a:srgbClr val="0056B6"/>
                </a:solidFill>
                <a:latin typeface="Arial MT"/>
                <a:cs typeface="Arial MT"/>
              </a:rPr>
              <a:t>behavior</a:t>
            </a:r>
            <a:r>
              <a:rPr dirty="0" sz="1000" spc="55">
                <a:solidFill>
                  <a:srgbClr val="0056B6"/>
                </a:solidFill>
                <a:latin typeface="Arial MT"/>
                <a:cs typeface="Arial MT"/>
              </a:rPr>
              <a:t> </a:t>
            </a:r>
            <a:r>
              <a:rPr dirty="0" sz="1000" spc="-30">
                <a:solidFill>
                  <a:srgbClr val="B65600"/>
                </a:solidFill>
                <a:latin typeface="Arial MT"/>
                <a:cs typeface="Arial MT"/>
              </a:rPr>
              <a:t>across</a:t>
            </a:r>
            <a:r>
              <a:rPr dirty="0" sz="1000" spc="-25">
                <a:solidFill>
                  <a:srgbClr val="B65600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income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B65600"/>
                </a:solidFill>
                <a:latin typeface="Arial MT"/>
                <a:cs typeface="Arial MT"/>
              </a:rPr>
              <a:t>tiers</a:t>
            </a:r>
            <a:endParaRPr sz="1000">
              <a:latin typeface="Arial MT"/>
              <a:cs typeface="Arial MT"/>
            </a:endParaRPr>
          </a:p>
          <a:p>
            <a:pPr marL="180340" indent="-167640">
              <a:lnSpc>
                <a:spcPct val="100000"/>
              </a:lnSpc>
              <a:spcBef>
                <a:spcPts val="725"/>
              </a:spcBef>
              <a:buClr>
                <a:srgbClr val="4F596B"/>
              </a:buClr>
              <a:buChar char="•"/>
              <a:tabLst>
                <a:tab pos="180340" algn="l"/>
              </a:tabLst>
            </a:pPr>
            <a:r>
              <a:rPr dirty="0" sz="1000" spc="-35">
                <a:latin typeface="Arial MT"/>
                <a:cs typeface="Arial MT"/>
              </a:rPr>
              <a:t>Support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data-</a:t>
            </a:r>
            <a:r>
              <a:rPr dirty="0" sz="1000" spc="-20">
                <a:latin typeface="Arial MT"/>
                <a:cs typeface="Arial MT"/>
              </a:rPr>
              <a:t>driven</a:t>
            </a:r>
            <a:r>
              <a:rPr dirty="0" sz="1000" spc="7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EV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 spc="-30">
                <a:solidFill>
                  <a:srgbClr val="260026"/>
                </a:solidFill>
                <a:latin typeface="Arial MT"/>
                <a:cs typeface="Arial MT"/>
              </a:rPr>
              <a:t>infrastructure</a:t>
            </a:r>
            <a:r>
              <a:rPr dirty="0" sz="1000" spc="-35">
                <a:solidFill>
                  <a:srgbClr val="260026"/>
                </a:solidFill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expansion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0056B6"/>
                </a:solidFill>
                <a:latin typeface="Arial MT"/>
                <a:cs typeface="Arial MT"/>
              </a:rPr>
              <a:t>planning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3605" y="3885884"/>
            <a:ext cx="224154" cy="0"/>
          </a:xfrm>
          <a:custGeom>
            <a:avLst/>
            <a:gdLst/>
            <a:ahLst/>
            <a:cxnLst/>
            <a:rect l="l" t="t" r="r" b="b"/>
            <a:pathLst>
              <a:path w="224154" h="0">
                <a:moveTo>
                  <a:pt x="0" y="0"/>
                </a:moveTo>
                <a:lnTo>
                  <a:pt x="224085" y="0"/>
                </a:lnTo>
              </a:path>
            </a:pathLst>
          </a:custGeom>
          <a:ln w="19855">
            <a:solidFill>
              <a:srgbClr val="133448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93605" y="3680235"/>
            <a:ext cx="224154" cy="215900"/>
            <a:chOff x="93605" y="3680235"/>
            <a:chExt cx="224154" cy="215900"/>
          </a:xfrm>
        </p:grpSpPr>
        <p:sp>
          <p:nvSpPr>
            <p:cNvPr id="4" name="object 4" descr=""/>
            <p:cNvSpPr/>
            <p:nvPr/>
          </p:nvSpPr>
          <p:spPr>
            <a:xfrm>
              <a:off x="93605" y="3680235"/>
              <a:ext cx="224154" cy="215900"/>
            </a:xfrm>
            <a:custGeom>
              <a:avLst/>
              <a:gdLst/>
              <a:ahLst/>
              <a:cxnLst/>
              <a:rect l="l" t="t" r="r" b="b"/>
              <a:pathLst>
                <a:path w="224154" h="215900">
                  <a:moveTo>
                    <a:pt x="0" y="9927"/>
                  </a:moveTo>
                  <a:lnTo>
                    <a:pt x="224085" y="9927"/>
                  </a:lnTo>
                </a:path>
                <a:path w="224154" h="215900">
                  <a:moveTo>
                    <a:pt x="9927" y="215576"/>
                  </a:moveTo>
                  <a:lnTo>
                    <a:pt x="9927" y="0"/>
                  </a:lnTo>
                </a:path>
              </a:pathLst>
            </a:custGeom>
            <a:ln w="19855">
              <a:solidFill>
                <a:srgbClr val="1334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07762" y="3680235"/>
              <a:ext cx="0" cy="215900"/>
            </a:xfrm>
            <a:custGeom>
              <a:avLst/>
              <a:gdLst/>
              <a:ahLst/>
              <a:cxnLst/>
              <a:rect l="l" t="t" r="r" b="b"/>
              <a:pathLst>
                <a:path w="0" h="215900">
                  <a:moveTo>
                    <a:pt x="0" y="215576"/>
                  </a:moveTo>
                  <a:lnTo>
                    <a:pt x="0" y="0"/>
                  </a:lnTo>
                </a:path>
              </a:pathLst>
            </a:custGeom>
            <a:ln w="19855">
              <a:solidFill>
                <a:srgbClr val="13344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46257" y="3634678"/>
            <a:ext cx="2049145" cy="16122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57785">
              <a:lnSpc>
                <a:spcPct val="100000"/>
              </a:lnSpc>
              <a:spcBef>
                <a:spcPts val="120"/>
              </a:spcBef>
              <a:tabLst>
                <a:tab pos="353695" algn="l"/>
              </a:tabLst>
            </a:pPr>
            <a:r>
              <a:rPr dirty="0" sz="1700" spc="-25">
                <a:solidFill>
                  <a:srgbClr val="16C60C"/>
                </a:solidFill>
                <a:latin typeface="Arial MT"/>
                <a:cs typeface="Arial MT"/>
              </a:rPr>
              <a:t>i</a:t>
            </a:r>
            <a:r>
              <a:rPr dirty="0" sz="1700" spc="-25">
                <a:solidFill>
                  <a:srgbClr val="EF3A16"/>
                </a:solidFill>
                <a:latin typeface="Arial MT"/>
                <a:cs typeface="Arial MT"/>
              </a:rPr>
              <a:t>i</a:t>
            </a:r>
            <a:r>
              <a:rPr dirty="0" sz="1700">
                <a:solidFill>
                  <a:srgbClr val="EF3A16"/>
                </a:solidFill>
                <a:latin typeface="Arial MT"/>
                <a:cs typeface="Arial MT"/>
              </a:rPr>
              <a:t>	</a:t>
            </a:r>
            <a:r>
              <a:rPr dirty="0" sz="1700">
                <a:latin typeface="Arial MT"/>
                <a:cs typeface="Arial MT"/>
              </a:rPr>
              <a:t>Dataset</a:t>
            </a:r>
            <a:r>
              <a:rPr dirty="0" sz="1700" spc="190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Used</a:t>
            </a:r>
            <a:endParaRPr sz="1700">
              <a:latin typeface="Arial MT"/>
              <a:cs typeface="Arial MT"/>
            </a:endParaRPr>
          </a:p>
          <a:p>
            <a:pPr marL="305435" indent="-171450">
              <a:lnSpc>
                <a:spcPct val="100000"/>
              </a:lnSpc>
              <a:spcBef>
                <a:spcPts val="1120"/>
              </a:spcBef>
              <a:buClr>
                <a:srgbClr val="4F596B"/>
              </a:buClr>
              <a:buChar char="•"/>
              <a:tabLst>
                <a:tab pos="305435" algn="l"/>
              </a:tabLst>
            </a:pPr>
            <a:r>
              <a:rPr dirty="0" sz="950" spc="35">
                <a:latin typeface="Arial MT"/>
                <a:cs typeface="Arial MT"/>
              </a:rPr>
              <a:t>districts.csv</a:t>
            </a:r>
            <a:endParaRPr sz="950">
              <a:latin typeface="Arial MT"/>
              <a:cs typeface="Arial MT"/>
            </a:endParaRPr>
          </a:p>
          <a:p>
            <a:pPr marL="304800" indent="-170815">
              <a:lnSpc>
                <a:spcPct val="100000"/>
              </a:lnSpc>
              <a:spcBef>
                <a:spcPts val="740"/>
              </a:spcBef>
              <a:buClr>
                <a:srgbClr val="4F596B"/>
              </a:buClr>
              <a:buChar char="•"/>
              <a:tabLst>
                <a:tab pos="304800" algn="l"/>
              </a:tabLst>
            </a:pPr>
            <a:r>
              <a:rPr dirty="0" sz="950">
                <a:latin typeface="Arial MT"/>
                <a:cs typeface="Arial MT"/>
              </a:rPr>
              <a:t>charging</a:t>
            </a:r>
            <a:r>
              <a:rPr dirty="0" sz="950" spc="204">
                <a:latin typeface="Arial MT"/>
                <a:cs typeface="Arial MT"/>
              </a:rPr>
              <a:t>  </a:t>
            </a:r>
            <a:r>
              <a:rPr dirty="0" sz="950" spc="-10">
                <a:latin typeface="Arial MT"/>
                <a:cs typeface="Arial MT"/>
              </a:rPr>
              <a:t>stations.csv</a:t>
            </a:r>
            <a:endParaRPr sz="950">
              <a:latin typeface="Arial MT"/>
              <a:cs typeface="Arial MT"/>
            </a:endParaRPr>
          </a:p>
          <a:p>
            <a:pPr marL="304800" indent="-170815">
              <a:lnSpc>
                <a:spcPct val="100000"/>
              </a:lnSpc>
              <a:spcBef>
                <a:spcPts val="800"/>
              </a:spcBef>
              <a:buClr>
                <a:srgbClr val="4F596B"/>
              </a:buClr>
              <a:buChar char="•"/>
              <a:tabLst>
                <a:tab pos="304800" algn="l"/>
              </a:tabLst>
            </a:pPr>
            <a:r>
              <a:rPr dirty="0" sz="950">
                <a:latin typeface="Arial MT"/>
                <a:cs typeface="Arial MT"/>
              </a:rPr>
              <a:t>charging</a:t>
            </a:r>
            <a:r>
              <a:rPr dirty="0" sz="950" spc="204">
                <a:latin typeface="Arial MT"/>
                <a:cs typeface="Arial MT"/>
              </a:rPr>
              <a:t>  </a:t>
            </a:r>
            <a:r>
              <a:rPr dirty="0" sz="950" spc="-10">
                <a:latin typeface="Arial MT"/>
                <a:cs typeface="Arial MT"/>
              </a:rPr>
              <a:t>sessions.csv</a:t>
            </a:r>
            <a:endParaRPr sz="950">
              <a:latin typeface="Arial MT"/>
              <a:cs typeface="Arial MT"/>
            </a:endParaRPr>
          </a:p>
          <a:p>
            <a:pPr marL="302895" indent="-168910">
              <a:lnSpc>
                <a:spcPct val="100000"/>
              </a:lnSpc>
              <a:spcBef>
                <a:spcPts val="805"/>
              </a:spcBef>
              <a:buClr>
                <a:srgbClr val="4F596B"/>
              </a:buClr>
              <a:buChar char="•"/>
              <a:tabLst>
                <a:tab pos="302895" algn="l"/>
              </a:tabLst>
            </a:pPr>
            <a:r>
              <a:rPr dirty="0" sz="950" spc="-10">
                <a:latin typeface="Arial MT"/>
                <a:cs typeface="Arial MT"/>
              </a:rPr>
              <a:t>Customers.csv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900" spc="45">
                <a:latin typeface="Arial MT"/>
                <a:cs typeface="Arial MT"/>
              </a:rPr>
              <a:t>Dataset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 spc="85">
                <a:latin typeface="Arial MT"/>
                <a:cs typeface="Arial MT"/>
              </a:rPr>
              <a:t>Link: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Warsaw</a:t>
            </a:r>
            <a:r>
              <a:rPr dirty="0" sz="900" spc="1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EV</a:t>
            </a:r>
            <a:r>
              <a:rPr dirty="0" sz="900" spc="2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Charging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7195" y="5915245"/>
            <a:ext cx="5408930" cy="7372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6034">
              <a:lnSpc>
                <a:spcPct val="100000"/>
              </a:lnSpc>
              <a:spcBef>
                <a:spcPts val="120"/>
              </a:spcBef>
            </a:pPr>
            <a:r>
              <a:rPr dirty="0" sz="1700" spc="170">
                <a:solidFill>
                  <a:srgbClr val="E81123"/>
                </a:solidFill>
                <a:latin typeface="Arial MT"/>
                <a:cs typeface="Arial MT"/>
              </a:rPr>
              <a:t>@</a:t>
            </a:r>
            <a:r>
              <a:rPr dirty="0" sz="1700" spc="345">
                <a:solidFill>
                  <a:srgbClr val="E81123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3497DB"/>
                </a:solidFill>
                <a:latin typeface="Arial MT"/>
                <a:cs typeface="Arial MT"/>
              </a:rPr>
              <a:t>Part</a:t>
            </a:r>
            <a:r>
              <a:rPr dirty="0" sz="1700" spc="-15">
                <a:solidFill>
                  <a:srgbClr val="3497DB"/>
                </a:solidFill>
                <a:latin typeface="Arial MT"/>
                <a:cs typeface="Arial MT"/>
              </a:rPr>
              <a:t> </a:t>
            </a:r>
            <a:r>
              <a:rPr dirty="0" sz="1700" spc="50">
                <a:solidFill>
                  <a:srgbClr val="3497DB"/>
                </a:solidFill>
                <a:latin typeface="Arial MT"/>
                <a:cs typeface="Arial MT"/>
              </a:rPr>
              <a:t>1:</a:t>
            </a:r>
            <a:r>
              <a:rPr dirty="0" sz="1700" spc="-25">
                <a:solidFill>
                  <a:srgbClr val="3497DB"/>
                </a:solidFill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SQL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55">
                <a:latin typeface="Arial MT"/>
                <a:cs typeface="Arial MT"/>
              </a:rPr>
              <a:t>Analysis</a:t>
            </a:r>
            <a:r>
              <a:rPr dirty="0" sz="1700" spc="14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(14</a:t>
            </a:r>
            <a:r>
              <a:rPr dirty="0" sz="1700" spc="4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Questions)</a:t>
            </a:r>
            <a:endParaRPr sz="1700">
              <a:latin typeface="Arial MT"/>
              <a:cs typeface="Arial MT"/>
            </a:endParaRPr>
          </a:p>
          <a:p>
            <a:pPr marL="12700" marR="5080" indent="13335">
              <a:lnSpc>
                <a:spcPct val="123400"/>
              </a:lnSpc>
              <a:spcBef>
                <a:spcPts val="720"/>
              </a:spcBef>
            </a:pPr>
            <a:r>
              <a:rPr dirty="0" sz="950" spc="-20">
                <a:solidFill>
                  <a:srgbClr val="268EDF"/>
                </a:solidFill>
                <a:latin typeface="Arial MT"/>
                <a:cs typeface="Arial MT"/>
              </a:rPr>
              <a:t>Tb</a:t>
            </a:r>
            <a:r>
              <a:rPr dirty="0" sz="950" spc="180">
                <a:solidFill>
                  <a:srgbClr val="268EDF"/>
                </a:solidFill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upload</a:t>
            </a:r>
            <a:r>
              <a:rPr dirty="0" sz="950" spc="18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data</a:t>
            </a:r>
            <a:r>
              <a:rPr dirty="0" sz="950" spc="15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to</a:t>
            </a:r>
            <a:r>
              <a:rPr dirty="0" sz="950" spc="30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SQL</a:t>
            </a:r>
            <a:r>
              <a:rPr dirty="0" sz="950" spc="2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use</a:t>
            </a:r>
            <a:r>
              <a:rPr dirty="0" sz="950" spc="14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the</a:t>
            </a:r>
            <a:r>
              <a:rPr dirty="0" sz="950" spc="15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following</a:t>
            </a:r>
            <a:r>
              <a:rPr dirty="0" sz="950" spc="254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code</a:t>
            </a:r>
            <a:r>
              <a:rPr dirty="0" sz="950" spc="23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snippet</a:t>
            </a:r>
            <a:r>
              <a:rPr dirty="0" sz="950" spc="105">
                <a:latin typeface="Arial MT"/>
                <a:cs typeface="Arial MT"/>
              </a:rPr>
              <a:t> </a:t>
            </a:r>
            <a:r>
              <a:rPr dirty="0" sz="950" spc="50">
                <a:latin typeface="Arial MT"/>
                <a:cs typeface="Arial MT"/>
              </a:rPr>
              <a:t>and</a:t>
            </a:r>
            <a:r>
              <a:rPr dirty="0" sz="950" spc="7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edit</a:t>
            </a:r>
            <a:r>
              <a:rPr dirty="0" sz="950" spc="17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according</a:t>
            </a:r>
            <a:r>
              <a:rPr dirty="0" sz="950" spc="15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to</a:t>
            </a:r>
            <a:r>
              <a:rPr dirty="0" sz="950" spc="18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the</a:t>
            </a:r>
            <a:r>
              <a:rPr dirty="0" sz="950" spc="80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requirement. </a:t>
            </a:r>
            <a:r>
              <a:rPr dirty="0" sz="950" spc="-25">
                <a:latin typeface="Arial MT"/>
                <a:cs typeface="Arial MT"/>
              </a:rPr>
              <a:t>https://grth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ub.com/Ayushi0214/SQL-Python-Ecommerce-Project/blob/main/csv</a:t>
            </a:r>
            <a:r>
              <a:rPr dirty="0" sz="950" spc="40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to</a:t>
            </a:r>
            <a:r>
              <a:rPr dirty="0" sz="950" spc="175">
                <a:latin typeface="Arial MT"/>
                <a:cs typeface="Arial MT"/>
              </a:rPr>
              <a:t>  </a:t>
            </a:r>
            <a:r>
              <a:rPr dirty="0" sz="950" spc="-10">
                <a:solidFill>
                  <a:srgbClr val="268E85"/>
                </a:solidFill>
                <a:latin typeface="Arial MT"/>
                <a:cs typeface="Arial MT"/>
              </a:rPr>
              <a:t>sql.py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3727" y="3294433"/>
            <a:ext cx="4524375" cy="38290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7305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solidFill>
                  <a:srgbClr val="3497DB"/>
                </a:solidFill>
                <a:latin typeface="Arial MT"/>
                <a:cs typeface="Arial MT"/>
              </a:rPr>
              <a:t>Basic</a:t>
            </a:r>
            <a:r>
              <a:rPr dirty="0" sz="1400" spc="365">
                <a:solidFill>
                  <a:srgbClr val="3497DB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3497DB"/>
                </a:solidFill>
                <a:latin typeface="Arial MT"/>
                <a:cs typeface="Arial MT"/>
              </a:rPr>
              <a:t>Level</a:t>
            </a:r>
            <a:endParaRPr sz="1400">
              <a:latin typeface="Arial MT"/>
              <a:cs typeface="Arial MT"/>
            </a:endParaRPr>
          </a:p>
          <a:p>
            <a:pPr marL="149225" indent="-130175">
              <a:lnSpc>
                <a:spcPct val="100000"/>
              </a:lnSpc>
              <a:spcBef>
                <a:spcPts val="885"/>
              </a:spcBef>
              <a:buAutoNum type="arabicPeriod"/>
              <a:tabLst>
                <a:tab pos="149225" algn="l"/>
              </a:tabLst>
            </a:pPr>
            <a:r>
              <a:rPr dirty="0" sz="900" spc="75">
                <a:latin typeface="Arial MT"/>
                <a:cs typeface="Arial MT"/>
              </a:rPr>
              <a:t>List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65">
                <a:latin typeface="Arial MT"/>
                <a:cs typeface="Arial MT"/>
              </a:rPr>
              <a:t>all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65">
                <a:latin typeface="Arial MT"/>
                <a:cs typeface="Arial MT"/>
              </a:rPr>
              <a:t>districts</a:t>
            </a:r>
            <a:r>
              <a:rPr dirty="0" sz="900" spc="85">
                <a:latin typeface="Arial MT"/>
                <a:cs typeface="Arial MT"/>
              </a:rPr>
              <a:t> </a:t>
            </a:r>
            <a:r>
              <a:rPr dirty="0" sz="900" spc="60">
                <a:latin typeface="Arial MT"/>
                <a:cs typeface="Arial MT"/>
              </a:rPr>
              <a:t>along</a:t>
            </a:r>
            <a:r>
              <a:rPr dirty="0" sz="900" spc="125">
                <a:latin typeface="Arial MT"/>
                <a:cs typeface="Arial MT"/>
              </a:rPr>
              <a:t> </a:t>
            </a:r>
            <a:r>
              <a:rPr dirty="0" sz="900" spc="55">
                <a:latin typeface="Arial MT"/>
                <a:cs typeface="Arial MT"/>
              </a:rPr>
              <a:t>with</a:t>
            </a:r>
            <a:r>
              <a:rPr dirty="0" sz="900" spc="35">
                <a:latin typeface="Arial MT"/>
                <a:cs typeface="Arial MT"/>
              </a:rPr>
              <a:t> </a:t>
            </a:r>
            <a:r>
              <a:rPr dirty="0" sz="900" spc="55">
                <a:latin typeface="Arial MT"/>
                <a:cs typeface="Arial MT"/>
              </a:rPr>
              <a:t>their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 spc="60">
                <a:latin typeface="Arial MT"/>
                <a:cs typeface="Arial MT"/>
              </a:rPr>
              <a:t>income</a:t>
            </a:r>
            <a:r>
              <a:rPr dirty="0" sz="900" spc="9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tiers.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0"/>
              </a:spcBef>
              <a:buAutoNum type="arabicPeriod"/>
            </a:pPr>
            <a:endParaRPr sz="900">
              <a:latin typeface="Arial MT"/>
              <a:cs typeface="Arial MT"/>
            </a:endParaRPr>
          </a:p>
          <a:p>
            <a:pPr marL="151765" indent="-131445">
              <a:lnSpc>
                <a:spcPct val="100000"/>
              </a:lnSpc>
              <a:buAutoNum type="arabicPeriod"/>
              <a:tabLst>
                <a:tab pos="151765" algn="l"/>
              </a:tabLst>
            </a:pPr>
            <a:r>
              <a:rPr dirty="0" sz="900" spc="60">
                <a:latin typeface="Arial MT"/>
                <a:cs typeface="Arial MT"/>
              </a:rPr>
              <a:t>Count</a:t>
            </a:r>
            <a:r>
              <a:rPr dirty="0" sz="900" spc="85">
                <a:latin typeface="Arial MT"/>
                <a:cs typeface="Arial MT"/>
              </a:rPr>
              <a:t> </a:t>
            </a:r>
            <a:r>
              <a:rPr dirty="0" sz="900" spc="55">
                <a:latin typeface="Arial MT"/>
                <a:cs typeface="Arial MT"/>
              </a:rPr>
              <a:t>the</a:t>
            </a:r>
            <a:r>
              <a:rPr dirty="0" sz="900" spc="95">
                <a:latin typeface="Arial MT"/>
                <a:cs typeface="Arial MT"/>
              </a:rPr>
              <a:t> </a:t>
            </a:r>
            <a:r>
              <a:rPr dirty="0" sz="900" spc="50">
                <a:latin typeface="Arial MT"/>
                <a:cs typeface="Arial MT"/>
              </a:rPr>
              <a:t>total</a:t>
            </a:r>
            <a:r>
              <a:rPr dirty="0" sz="900" spc="85">
                <a:latin typeface="Arial MT"/>
                <a:cs typeface="Arial MT"/>
              </a:rPr>
              <a:t> </a:t>
            </a:r>
            <a:r>
              <a:rPr dirty="0" sz="900" spc="65">
                <a:latin typeface="Arial MT"/>
                <a:cs typeface="Arial MT"/>
              </a:rPr>
              <a:t>number</a:t>
            </a:r>
            <a:r>
              <a:rPr dirty="0" sz="900" spc="1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145">
                <a:latin typeface="Arial MT"/>
                <a:cs typeface="Arial MT"/>
              </a:rPr>
              <a:t> </a:t>
            </a:r>
            <a:r>
              <a:rPr dirty="0" sz="900" spc="50">
                <a:latin typeface="Arial MT"/>
                <a:cs typeface="Arial MT"/>
              </a:rPr>
              <a:t>charg</a:t>
            </a:r>
            <a:r>
              <a:rPr dirty="0" sz="900" spc="-114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ing</a:t>
            </a:r>
            <a:r>
              <a:rPr dirty="0" sz="900" spc="155">
                <a:latin typeface="Arial MT"/>
                <a:cs typeface="Arial MT"/>
              </a:rPr>
              <a:t> </a:t>
            </a:r>
            <a:r>
              <a:rPr dirty="0" sz="900" spc="60">
                <a:latin typeface="Arial MT"/>
                <a:cs typeface="Arial MT"/>
              </a:rPr>
              <a:t>stations</a:t>
            </a:r>
            <a:r>
              <a:rPr dirty="0" sz="900" spc="85">
                <a:latin typeface="Arial MT"/>
                <a:cs typeface="Arial MT"/>
              </a:rPr>
              <a:t> </a:t>
            </a:r>
            <a:r>
              <a:rPr dirty="0" sz="900" spc="50">
                <a:latin typeface="Arial MT"/>
                <a:cs typeface="Arial MT"/>
              </a:rPr>
              <a:t>in</a:t>
            </a:r>
            <a:r>
              <a:rPr dirty="0" sz="900" spc="1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each</a:t>
            </a:r>
            <a:r>
              <a:rPr dirty="0" sz="900" spc="65">
                <a:latin typeface="Arial MT"/>
                <a:cs typeface="Arial MT"/>
              </a:rPr>
              <a:t> </a:t>
            </a:r>
            <a:r>
              <a:rPr dirty="0" sz="900" spc="50">
                <a:latin typeface="Arial MT"/>
                <a:cs typeface="Arial MT"/>
              </a:rPr>
              <a:t>district.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0"/>
              </a:spcBef>
              <a:buAutoNum type="arabicPeriod"/>
            </a:pPr>
            <a:endParaRPr sz="900">
              <a:latin typeface="Arial MT"/>
              <a:cs typeface="Arial MT"/>
            </a:endParaRPr>
          </a:p>
          <a:p>
            <a:pPr marL="147955" indent="-129539">
              <a:lnSpc>
                <a:spcPct val="100000"/>
              </a:lnSpc>
              <a:buAutoNum type="arabicPeriod"/>
              <a:tabLst>
                <a:tab pos="147955" algn="l"/>
              </a:tabLst>
            </a:pPr>
            <a:r>
              <a:rPr dirty="0" sz="900" spc="75">
                <a:latin typeface="Arial MT"/>
                <a:cs typeface="Arial MT"/>
              </a:rPr>
              <a:t>Find</a:t>
            </a:r>
            <a:r>
              <a:rPr dirty="0" sz="900" spc="35">
                <a:latin typeface="Arial MT"/>
                <a:cs typeface="Arial MT"/>
              </a:rPr>
              <a:t> </a:t>
            </a:r>
            <a:r>
              <a:rPr dirty="0" sz="900" spc="70">
                <a:latin typeface="Arial MT"/>
                <a:cs typeface="Arial MT"/>
              </a:rPr>
              <a:t>the</a:t>
            </a:r>
            <a:r>
              <a:rPr dirty="0" sz="900" spc="35">
                <a:latin typeface="Arial MT"/>
                <a:cs typeface="Arial MT"/>
              </a:rPr>
              <a:t> </a:t>
            </a:r>
            <a:r>
              <a:rPr dirty="0" sz="900" spc="50">
                <a:latin typeface="Arial MT"/>
                <a:cs typeface="Arial MT"/>
              </a:rPr>
              <a:t>total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 spc="65">
                <a:solidFill>
                  <a:srgbClr val="268EDF"/>
                </a:solidFill>
                <a:latin typeface="Arial MT"/>
                <a:cs typeface="Arial MT"/>
              </a:rPr>
              <a:t>n</a:t>
            </a:r>
            <a:r>
              <a:rPr dirty="0" sz="900" spc="65">
                <a:latin typeface="Arial MT"/>
                <a:cs typeface="Arial MT"/>
              </a:rPr>
              <a:t>umber</a:t>
            </a:r>
            <a:r>
              <a:rPr dirty="0" sz="900" spc="90">
                <a:latin typeface="Arial MT"/>
                <a:cs typeface="Arial MT"/>
              </a:rPr>
              <a:t> </a:t>
            </a:r>
            <a:r>
              <a:rPr dirty="0" sz="900" spc="20">
                <a:latin typeface="Arial MT"/>
                <a:cs typeface="Arial MT"/>
              </a:rPr>
              <a:t>of</a:t>
            </a:r>
            <a:r>
              <a:rPr dirty="0" sz="900" spc="145">
                <a:latin typeface="Arial MT"/>
                <a:cs typeface="Arial MT"/>
              </a:rPr>
              <a:t> </a:t>
            </a:r>
            <a:r>
              <a:rPr dirty="0" sz="900" spc="60">
                <a:latin typeface="Arial MT"/>
                <a:cs typeface="Arial MT"/>
              </a:rPr>
              <a:t>charging</a:t>
            </a:r>
            <a:r>
              <a:rPr dirty="0" sz="900" spc="120">
                <a:latin typeface="Arial MT"/>
                <a:cs typeface="Arial MT"/>
              </a:rPr>
              <a:t> </a:t>
            </a:r>
            <a:r>
              <a:rPr dirty="0" sz="900" spc="75">
                <a:latin typeface="Arial MT"/>
                <a:cs typeface="Arial MT"/>
              </a:rPr>
              <a:t>plugs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 spc="20">
                <a:latin typeface="Arial MT"/>
                <a:cs typeface="Arial MT"/>
              </a:rPr>
              <a:t>available</a:t>
            </a:r>
            <a:r>
              <a:rPr dirty="0" sz="900" spc="70">
                <a:latin typeface="Arial MT"/>
                <a:cs typeface="Arial MT"/>
              </a:rPr>
              <a:t> </a:t>
            </a:r>
            <a:r>
              <a:rPr dirty="0" sz="900" spc="55">
                <a:latin typeface="Arial MT"/>
                <a:cs typeface="Arial MT"/>
              </a:rPr>
              <a:t>per</a:t>
            </a:r>
            <a:r>
              <a:rPr dirty="0" sz="900" spc="80">
                <a:latin typeface="Arial MT"/>
                <a:cs typeface="Arial MT"/>
              </a:rPr>
              <a:t> </a:t>
            </a:r>
            <a:r>
              <a:rPr dirty="0" sz="900" spc="50">
                <a:latin typeface="Arial MT"/>
                <a:cs typeface="Arial MT"/>
              </a:rPr>
              <a:t>district.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80"/>
              </a:spcBef>
              <a:buAutoNum type="arabicPeriod"/>
            </a:pPr>
            <a:endParaRPr sz="900">
              <a:latin typeface="Arial MT"/>
              <a:cs typeface="Arial MT"/>
            </a:endParaRPr>
          </a:p>
          <a:p>
            <a:pPr marL="151765" indent="-129539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51765" algn="l"/>
              </a:tabLst>
            </a:pPr>
            <a:r>
              <a:rPr dirty="0" sz="900" spc="10">
                <a:latin typeface="Arial MT"/>
                <a:cs typeface="Arial MT"/>
              </a:rPr>
              <a:t>Calculate</a:t>
            </a:r>
            <a:r>
              <a:rPr dirty="0" sz="900" spc="180">
                <a:latin typeface="Arial MT"/>
                <a:cs typeface="Arial MT"/>
              </a:rPr>
              <a:t> </a:t>
            </a:r>
            <a:r>
              <a:rPr dirty="0" sz="900" spc="10">
                <a:latin typeface="Arial MT"/>
                <a:cs typeface="Arial MT"/>
              </a:rPr>
              <a:t>the</a:t>
            </a:r>
            <a:r>
              <a:rPr dirty="0" sz="900" spc="120">
                <a:latin typeface="Arial MT"/>
                <a:cs typeface="Arial MT"/>
              </a:rPr>
              <a:t> </a:t>
            </a:r>
            <a:r>
              <a:rPr dirty="0" sz="900" spc="65">
                <a:latin typeface="Arial MT"/>
                <a:cs typeface="Arial MT"/>
              </a:rPr>
              <a:t>total</a:t>
            </a:r>
            <a:r>
              <a:rPr dirty="0" sz="900" spc="25">
                <a:latin typeface="Arial MT"/>
                <a:cs typeface="Arial MT"/>
              </a:rPr>
              <a:t> </a:t>
            </a:r>
            <a:r>
              <a:rPr dirty="0" sz="900" spc="65">
                <a:latin typeface="Arial MT"/>
                <a:cs typeface="Arial MT"/>
              </a:rPr>
              <a:t>number</a:t>
            </a:r>
            <a:r>
              <a:rPr dirty="0" sz="900" spc="215">
                <a:latin typeface="Arial MT"/>
                <a:cs typeface="Arial MT"/>
              </a:rPr>
              <a:t> </a:t>
            </a:r>
            <a:r>
              <a:rPr dirty="0" sz="900" spc="10">
                <a:latin typeface="Arial MT"/>
                <a:cs typeface="Arial MT"/>
              </a:rPr>
              <a:t>of</a:t>
            </a:r>
            <a:r>
              <a:rPr dirty="0" sz="900" spc="90">
                <a:latin typeface="Arial MT"/>
                <a:cs typeface="Arial MT"/>
              </a:rPr>
              <a:t> </a:t>
            </a:r>
            <a:r>
              <a:rPr dirty="0" sz="900" spc="65">
                <a:latin typeface="Arial MT"/>
                <a:cs typeface="Arial MT"/>
              </a:rPr>
              <a:t>charging</a:t>
            </a:r>
            <a:r>
              <a:rPr dirty="0" sz="900" spc="110">
                <a:latin typeface="Arial MT"/>
                <a:cs typeface="Arial MT"/>
              </a:rPr>
              <a:t> </a:t>
            </a:r>
            <a:r>
              <a:rPr dirty="0" sz="900" spc="60">
                <a:latin typeface="Arial MT"/>
                <a:cs typeface="Arial MT"/>
              </a:rPr>
              <a:t>sessions</a:t>
            </a:r>
            <a:r>
              <a:rPr dirty="0" sz="900" spc="204">
                <a:latin typeface="Arial MT"/>
                <a:cs typeface="Arial MT"/>
              </a:rPr>
              <a:t> </a:t>
            </a:r>
            <a:r>
              <a:rPr dirty="0" sz="900" spc="40">
                <a:latin typeface="Arial MT"/>
                <a:cs typeface="Arial MT"/>
              </a:rPr>
              <a:t>recorded.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45"/>
              </a:spcBef>
              <a:buAutoNum type="arabicPeriod"/>
            </a:pPr>
            <a:endParaRPr sz="900">
              <a:latin typeface="Arial MT"/>
              <a:cs typeface="Arial MT"/>
            </a:endParaRPr>
          </a:p>
          <a:p>
            <a:pPr marL="146685" indent="-12827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46685" algn="l"/>
              </a:tabLst>
            </a:pPr>
            <a:r>
              <a:rPr dirty="0" sz="1000">
                <a:latin typeface="Arial MT"/>
                <a:cs typeface="Arial MT"/>
              </a:rPr>
              <a:t>Find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average</a:t>
            </a:r>
            <a:r>
              <a:rPr dirty="0" sz="1000" spc="8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energy</a:t>
            </a:r>
            <a:r>
              <a:rPr dirty="0" sz="1000" spc="9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charged</a:t>
            </a:r>
            <a:r>
              <a:rPr dirty="0" sz="1000" spc="7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(kWh)</a:t>
            </a:r>
            <a:r>
              <a:rPr dirty="0" sz="1000" spc="9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per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charging</a:t>
            </a:r>
            <a:r>
              <a:rPr dirty="0" sz="1000" spc="10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session.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650" spc="-55">
                <a:solidFill>
                  <a:srgbClr val="3497DB"/>
                </a:solidFill>
                <a:latin typeface="Arial MT"/>
                <a:cs typeface="Arial MT"/>
              </a:rPr>
              <a:t>Intermediate</a:t>
            </a:r>
            <a:r>
              <a:rPr dirty="0" sz="1650" spc="15">
                <a:solidFill>
                  <a:srgbClr val="3497DB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3497DB"/>
                </a:solidFill>
                <a:latin typeface="Arial MT"/>
                <a:cs typeface="Arial MT"/>
              </a:rPr>
              <a:t>Level</a:t>
            </a:r>
            <a:endParaRPr sz="1650">
              <a:latin typeface="Arial MT"/>
              <a:cs typeface="Arial MT"/>
            </a:endParaRPr>
          </a:p>
          <a:p>
            <a:pPr marL="149860" indent="-131445">
              <a:lnSpc>
                <a:spcPct val="100000"/>
              </a:lnSpc>
              <a:spcBef>
                <a:spcPts val="700"/>
              </a:spcBef>
              <a:buAutoNum type="arabicPeriod" startAt="6"/>
              <a:tabLst>
                <a:tab pos="149860" algn="l"/>
              </a:tabLst>
            </a:pPr>
            <a:r>
              <a:rPr dirty="0" sz="1100" spc="-45">
                <a:latin typeface="Arial MT"/>
                <a:cs typeface="Arial MT"/>
              </a:rPr>
              <a:t>Calculate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total</a:t>
            </a:r>
            <a:r>
              <a:rPr dirty="0" sz="1100" spc="-55">
                <a:latin typeface="Arial MT"/>
                <a:cs typeface="Arial MT"/>
              </a:rPr>
              <a:t> energy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charged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(kWh)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by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each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district.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80"/>
              </a:spcBef>
              <a:buAutoNum type="arabicPeriod" startAt="6"/>
            </a:pPr>
            <a:endParaRPr sz="1100">
              <a:latin typeface="Arial MT"/>
              <a:cs typeface="Arial MT"/>
            </a:endParaRPr>
          </a:p>
          <a:p>
            <a:pPr marL="146685" indent="-128905">
              <a:lnSpc>
                <a:spcPct val="100000"/>
              </a:lnSpc>
              <a:buAutoNum type="arabicPeriod" startAt="6"/>
              <a:tabLst>
                <a:tab pos="146685" algn="l"/>
              </a:tabLst>
            </a:pPr>
            <a:r>
              <a:rPr dirty="0" sz="900" spc="55">
                <a:latin typeface="Arial MT"/>
                <a:cs typeface="Arial MT"/>
              </a:rPr>
              <a:t>Identify</a:t>
            </a:r>
            <a:r>
              <a:rPr dirty="0" sz="900" spc="160">
                <a:latin typeface="Arial MT"/>
                <a:cs typeface="Arial MT"/>
              </a:rPr>
              <a:t> </a:t>
            </a:r>
            <a:r>
              <a:rPr dirty="0" sz="900" spc="60">
                <a:latin typeface="Arial MT"/>
                <a:cs typeface="Arial MT"/>
              </a:rPr>
              <a:t>the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 spc="60">
                <a:latin typeface="Arial MT"/>
                <a:cs typeface="Arial MT"/>
              </a:rPr>
              <a:t>top</a:t>
            </a:r>
            <a:r>
              <a:rPr dirty="0" sz="900" spc="1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5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60">
                <a:latin typeface="Arial MT"/>
                <a:cs typeface="Arial MT"/>
              </a:rPr>
              <a:t>charging</a:t>
            </a:r>
            <a:r>
              <a:rPr dirty="0" sz="900" spc="165">
                <a:latin typeface="Arial MT"/>
                <a:cs typeface="Arial MT"/>
              </a:rPr>
              <a:t> </a:t>
            </a:r>
            <a:r>
              <a:rPr dirty="0" sz="900" spc="60">
                <a:latin typeface="Arial MT"/>
                <a:cs typeface="Arial MT"/>
              </a:rPr>
              <a:t>stations</a:t>
            </a:r>
            <a:r>
              <a:rPr dirty="0" sz="900" spc="16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based</a:t>
            </a:r>
            <a:r>
              <a:rPr dirty="0" sz="900" spc="1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</a:t>
            </a:r>
            <a:r>
              <a:rPr dirty="0" sz="900" spc="130">
                <a:latin typeface="Arial MT"/>
                <a:cs typeface="Arial MT"/>
              </a:rPr>
              <a:t> </a:t>
            </a:r>
            <a:r>
              <a:rPr dirty="0" sz="900" spc="65">
                <a:latin typeface="Arial MT"/>
                <a:cs typeface="Arial MT"/>
              </a:rPr>
              <a:t>number</a:t>
            </a:r>
            <a:r>
              <a:rPr dirty="0" sz="900" spc="10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145">
                <a:latin typeface="Arial MT"/>
                <a:cs typeface="Arial MT"/>
              </a:rPr>
              <a:t> </a:t>
            </a:r>
            <a:r>
              <a:rPr dirty="0" sz="900" spc="60">
                <a:latin typeface="Arial MT"/>
                <a:cs typeface="Arial MT"/>
              </a:rPr>
              <a:t>charging</a:t>
            </a:r>
            <a:r>
              <a:rPr dirty="0" sz="900" spc="160">
                <a:latin typeface="Arial MT"/>
                <a:cs typeface="Arial MT"/>
              </a:rPr>
              <a:t> </a:t>
            </a:r>
            <a:r>
              <a:rPr dirty="0" sz="900" spc="45">
                <a:latin typeface="Arial MT"/>
                <a:cs typeface="Arial MT"/>
              </a:rPr>
              <a:t>sessions.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AutoNum type="arabicPeriod" startAt="6"/>
            </a:pPr>
            <a:endParaRPr sz="900">
              <a:latin typeface="Arial MT"/>
              <a:cs typeface="Arial MT"/>
            </a:endParaRPr>
          </a:p>
          <a:p>
            <a:pPr marL="151130" indent="-132715">
              <a:lnSpc>
                <a:spcPct val="100000"/>
              </a:lnSpc>
              <a:buAutoNum type="arabicPeriod" startAt="6"/>
              <a:tabLst>
                <a:tab pos="151130" algn="l"/>
              </a:tabLst>
            </a:pPr>
            <a:r>
              <a:rPr dirty="0" sz="1000">
                <a:latin typeface="Arial MT"/>
                <a:cs typeface="Arial MT"/>
              </a:rPr>
              <a:t>Calculate</a:t>
            </a:r>
            <a:r>
              <a:rPr dirty="0" sz="1000" spc="1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total charging</a:t>
            </a:r>
            <a:r>
              <a:rPr dirty="0" sz="1000" spc="10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revenue</a:t>
            </a:r>
            <a:r>
              <a:rPr dirty="0" sz="1000" spc="7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generated</a:t>
            </a:r>
            <a:r>
              <a:rPr dirty="0" sz="1000" spc="10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per</a:t>
            </a:r>
            <a:r>
              <a:rPr dirty="0" sz="1000" spc="8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district.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65"/>
              </a:spcBef>
              <a:buAutoNum type="arabicPeriod" startAt="6"/>
            </a:pPr>
            <a:endParaRPr sz="1000">
              <a:latin typeface="Arial MT"/>
              <a:cs typeface="Arial MT"/>
            </a:endParaRPr>
          </a:p>
          <a:p>
            <a:pPr marL="147320" indent="-128905">
              <a:lnSpc>
                <a:spcPct val="100000"/>
              </a:lnSpc>
              <a:buAutoNum type="arabicPeriod" startAt="6"/>
              <a:tabLst>
                <a:tab pos="147320" algn="l"/>
              </a:tabLst>
            </a:pPr>
            <a:r>
              <a:rPr dirty="0" sz="950" spc="50">
                <a:latin typeface="Arial MT"/>
                <a:cs typeface="Arial MT"/>
              </a:rPr>
              <a:t>Find</a:t>
            </a:r>
            <a:r>
              <a:rPr dirty="0" sz="950" spc="7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the</a:t>
            </a:r>
            <a:r>
              <a:rPr dirty="0" sz="950" spc="10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average</a:t>
            </a:r>
            <a:r>
              <a:rPr dirty="0" sz="950" spc="1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charging</a:t>
            </a:r>
            <a:r>
              <a:rPr dirty="0" sz="950" spc="14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cost</a:t>
            </a:r>
            <a:r>
              <a:rPr dirty="0" sz="950" spc="13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per</a:t>
            </a:r>
            <a:r>
              <a:rPr dirty="0" sz="950" spc="10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session</a:t>
            </a:r>
            <a:r>
              <a:rPr dirty="0" sz="950" spc="16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for</a:t>
            </a:r>
            <a:r>
              <a:rPr dirty="0" sz="950" spc="22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each</a:t>
            </a:r>
            <a:r>
              <a:rPr dirty="0" sz="950" spc="14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income</a:t>
            </a:r>
            <a:r>
              <a:rPr dirty="0" sz="950" spc="16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tier.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950">
              <a:latin typeface="Arial MT"/>
              <a:cs typeface="Arial MT"/>
            </a:endParaRPr>
          </a:p>
          <a:p>
            <a:pPr marL="18415">
              <a:lnSpc>
                <a:spcPct val="100000"/>
              </a:lnSpc>
            </a:pPr>
            <a:r>
              <a:rPr dirty="0" sz="950" spc="-35">
                <a:solidFill>
                  <a:srgbClr val="4F91CC"/>
                </a:solidFill>
                <a:latin typeface="Arial MT"/>
                <a:cs typeface="Arial MT"/>
              </a:rPr>
              <a:t>1C.</a:t>
            </a:r>
            <a:r>
              <a:rPr dirty="0" sz="950" spc="210">
                <a:solidFill>
                  <a:srgbClr val="4F91CC"/>
                </a:solidFill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Analyze</a:t>
            </a:r>
            <a:r>
              <a:rPr dirty="0" sz="950" spc="17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average</a:t>
            </a:r>
            <a:r>
              <a:rPr dirty="0" sz="950" spc="14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energy</a:t>
            </a:r>
            <a:r>
              <a:rPr dirty="0" sz="950" spc="17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charged</a:t>
            </a:r>
            <a:r>
              <a:rPr dirty="0" sz="950" spc="15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per</a:t>
            </a:r>
            <a:r>
              <a:rPr dirty="0" sz="950" spc="8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customer.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8140" y="4092526"/>
            <a:ext cx="5624830" cy="25330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105"/>
              </a:spcBef>
            </a:pPr>
            <a:r>
              <a:rPr dirty="0" sz="1200">
                <a:solidFill>
                  <a:srgbClr val="3497DB"/>
                </a:solidFill>
                <a:latin typeface="Arial MT"/>
                <a:cs typeface="Arial MT"/>
              </a:rPr>
              <a:t>Advanced</a:t>
            </a:r>
            <a:r>
              <a:rPr dirty="0" sz="1200" spc="375">
                <a:solidFill>
                  <a:srgbClr val="3497DB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3497DB"/>
                </a:solidFill>
                <a:latin typeface="Arial MT"/>
                <a:cs typeface="Arial MT"/>
              </a:rPr>
              <a:t>Level</a:t>
            </a:r>
            <a:endParaRPr sz="1200">
              <a:latin typeface="Arial MT"/>
              <a:cs typeface="Arial MT"/>
            </a:endParaRPr>
          </a:p>
          <a:p>
            <a:pPr marL="207645" indent="-192405">
              <a:lnSpc>
                <a:spcPct val="100000"/>
              </a:lnSpc>
              <a:spcBef>
                <a:spcPts val="805"/>
              </a:spcBef>
              <a:buClr>
                <a:srgbClr val="00268E"/>
              </a:buClr>
              <a:buAutoNum type="arabicPeriod" startAt="11"/>
              <a:tabLst>
                <a:tab pos="207645" algn="l"/>
              </a:tabLst>
            </a:pPr>
            <a:r>
              <a:rPr dirty="0" sz="900" spc="55">
                <a:latin typeface="Arial MT"/>
                <a:cs typeface="Arial MT"/>
              </a:rPr>
              <a:t>Com</a:t>
            </a:r>
            <a:r>
              <a:rPr dirty="0" sz="900" spc="-130">
                <a:latin typeface="Arial MT"/>
                <a:cs typeface="Arial MT"/>
              </a:rPr>
              <a:t> </a:t>
            </a:r>
            <a:r>
              <a:rPr dirty="0" sz="900" spc="20">
                <a:latin typeface="Arial MT"/>
                <a:cs typeface="Arial MT"/>
              </a:rPr>
              <a:t>pare</a:t>
            </a:r>
            <a:r>
              <a:rPr dirty="0" sz="900" spc="135">
                <a:latin typeface="Arial MT"/>
                <a:cs typeface="Arial MT"/>
              </a:rPr>
              <a:t> </a:t>
            </a:r>
            <a:r>
              <a:rPr dirty="0" sz="900" spc="55">
                <a:latin typeface="Arial MT"/>
                <a:cs typeface="Arial MT"/>
              </a:rPr>
              <a:t>projected</a:t>
            </a:r>
            <a:r>
              <a:rPr dirty="0" sz="900" spc="114">
                <a:latin typeface="Arial MT"/>
                <a:cs typeface="Arial MT"/>
              </a:rPr>
              <a:t> </a:t>
            </a:r>
            <a:r>
              <a:rPr dirty="0" sz="900" spc="20">
                <a:latin typeface="Arial MT"/>
                <a:cs typeface="Arial MT"/>
              </a:rPr>
              <a:t>EV</a:t>
            </a:r>
            <a:r>
              <a:rPr dirty="0" sz="900" spc="25">
                <a:latin typeface="Arial MT"/>
                <a:cs typeface="Arial MT"/>
              </a:rPr>
              <a:t> </a:t>
            </a:r>
            <a:r>
              <a:rPr dirty="0" sz="900" spc="75">
                <a:latin typeface="Arial MT"/>
                <a:cs typeface="Arial MT"/>
              </a:rPr>
              <a:t>count</a:t>
            </a:r>
            <a:r>
              <a:rPr dirty="0" sz="900" spc="85">
                <a:latin typeface="Arial MT"/>
                <a:cs typeface="Arial MT"/>
              </a:rPr>
              <a:t> </a:t>
            </a:r>
            <a:r>
              <a:rPr dirty="0" sz="900" spc="70">
                <a:latin typeface="Arial MT"/>
                <a:cs typeface="Arial MT"/>
              </a:rPr>
              <a:t>with</a:t>
            </a:r>
            <a:r>
              <a:rPr dirty="0" sz="900" spc="60">
                <a:latin typeface="Arial MT"/>
                <a:cs typeface="Arial MT"/>
              </a:rPr>
              <a:t> </a:t>
            </a:r>
            <a:r>
              <a:rPr dirty="0" sz="900" spc="65">
                <a:latin typeface="Arial MT"/>
                <a:cs typeface="Arial MT"/>
              </a:rPr>
              <a:t>total</a:t>
            </a:r>
            <a:r>
              <a:rPr dirty="0" sz="900" spc="30">
                <a:latin typeface="Arial MT"/>
                <a:cs typeface="Arial MT"/>
              </a:rPr>
              <a:t> </a:t>
            </a:r>
            <a:r>
              <a:rPr dirty="0" sz="900" spc="20">
                <a:latin typeface="Arial MT"/>
                <a:cs typeface="Arial MT"/>
              </a:rPr>
              <a:t>available</a:t>
            </a:r>
            <a:r>
              <a:rPr dirty="0" sz="900" spc="100">
                <a:latin typeface="Arial MT"/>
                <a:cs typeface="Arial MT"/>
              </a:rPr>
              <a:t> </a:t>
            </a:r>
            <a:r>
              <a:rPr dirty="0" sz="900" spc="60">
                <a:latin typeface="Arial MT"/>
                <a:cs typeface="Arial MT"/>
              </a:rPr>
              <a:t>charging</a:t>
            </a:r>
            <a:r>
              <a:rPr dirty="0" sz="900" spc="125">
                <a:latin typeface="Arial MT"/>
                <a:cs typeface="Arial MT"/>
              </a:rPr>
              <a:t> </a:t>
            </a:r>
            <a:r>
              <a:rPr dirty="0" sz="900" spc="75">
                <a:latin typeface="Arial MT"/>
                <a:cs typeface="Arial MT"/>
              </a:rPr>
              <a:t>plugs</a:t>
            </a:r>
            <a:r>
              <a:rPr dirty="0" sz="900" spc="95">
                <a:latin typeface="Arial MT"/>
                <a:cs typeface="Arial MT"/>
              </a:rPr>
              <a:t> </a:t>
            </a:r>
            <a:r>
              <a:rPr dirty="0" sz="900" spc="60">
                <a:latin typeface="Arial MT"/>
                <a:cs typeface="Arial MT"/>
              </a:rPr>
              <a:t>for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20">
                <a:latin typeface="Arial MT"/>
                <a:cs typeface="Arial MT"/>
              </a:rPr>
              <a:t>each</a:t>
            </a:r>
            <a:r>
              <a:rPr dirty="0" sz="900" spc="130">
                <a:latin typeface="Arial MT"/>
                <a:cs typeface="Arial MT"/>
              </a:rPr>
              <a:t> </a:t>
            </a:r>
            <a:r>
              <a:rPr dirty="0" sz="900" spc="50">
                <a:latin typeface="Arial MT"/>
                <a:cs typeface="Arial MT"/>
              </a:rPr>
              <a:t>district.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60"/>
              </a:spcBef>
              <a:buAutoNum type="arabicPeriod" startAt="11"/>
            </a:pPr>
            <a:endParaRPr sz="900">
              <a:latin typeface="Arial MT"/>
              <a:cs typeface="Arial MT"/>
            </a:endParaRPr>
          </a:p>
          <a:p>
            <a:pPr marL="210820" indent="-195580">
              <a:lnSpc>
                <a:spcPct val="100000"/>
              </a:lnSpc>
              <a:buAutoNum type="arabicPeriod" startAt="11"/>
              <a:tabLst>
                <a:tab pos="210820" algn="l"/>
              </a:tabLst>
            </a:pPr>
            <a:r>
              <a:rPr dirty="0" sz="900" spc="55">
                <a:latin typeface="Arial MT"/>
                <a:cs typeface="Arial MT"/>
              </a:rPr>
              <a:t>Identify</a:t>
            </a:r>
            <a:r>
              <a:rPr dirty="0" sz="900" spc="200">
                <a:latin typeface="Arial MT"/>
                <a:cs typeface="Arial MT"/>
              </a:rPr>
              <a:t> </a:t>
            </a:r>
            <a:r>
              <a:rPr dirty="0" sz="900" spc="65">
                <a:latin typeface="Arial MT"/>
                <a:cs typeface="Arial MT"/>
              </a:rPr>
              <a:t>districts</a:t>
            </a:r>
            <a:r>
              <a:rPr dirty="0" sz="900" spc="220">
                <a:latin typeface="Arial MT"/>
                <a:cs typeface="Arial MT"/>
              </a:rPr>
              <a:t> </a:t>
            </a:r>
            <a:r>
              <a:rPr dirty="0" sz="900" spc="10">
                <a:latin typeface="Arial MT"/>
                <a:cs typeface="Arial MT"/>
              </a:rPr>
              <a:t>where</a:t>
            </a:r>
            <a:r>
              <a:rPr dirty="0" sz="900" spc="125">
                <a:latin typeface="Arial MT"/>
                <a:cs typeface="Arial MT"/>
              </a:rPr>
              <a:t> </a:t>
            </a:r>
            <a:r>
              <a:rPr dirty="0" sz="900" spc="55">
                <a:latin typeface="Arial MT"/>
                <a:cs typeface="Arial MT"/>
              </a:rPr>
              <a:t>projected</a:t>
            </a:r>
            <a:r>
              <a:rPr dirty="0" sz="900" spc="170">
                <a:latin typeface="Arial MT"/>
                <a:cs typeface="Arial MT"/>
              </a:rPr>
              <a:t> </a:t>
            </a:r>
            <a:r>
              <a:rPr dirty="0" sz="900" spc="10">
                <a:latin typeface="Arial MT"/>
                <a:cs typeface="Arial MT"/>
              </a:rPr>
              <a:t>EVs</a:t>
            </a:r>
            <a:r>
              <a:rPr dirty="0" sz="900" spc="215">
                <a:latin typeface="Arial MT"/>
                <a:cs typeface="Arial MT"/>
              </a:rPr>
              <a:t> </a:t>
            </a:r>
            <a:r>
              <a:rPr dirty="0" sz="900" spc="10">
                <a:latin typeface="Arial MT"/>
                <a:cs typeface="Arial MT"/>
              </a:rPr>
              <a:t>exceed</a:t>
            </a:r>
            <a:r>
              <a:rPr dirty="0" sz="900" spc="200">
                <a:latin typeface="Arial MT"/>
                <a:cs typeface="Arial MT"/>
              </a:rPr>
              <a:t> </a:t>
            </a:r>
            <a:r>
              <a:rPr dirty="0" sz="900" spc="10">
                <a:latin typeface="Arial MT"/>
                <a:cs typeface="Arial MT"/>
              </a:rPr>
              <a:t>available</a:t>
            </a:r>
            <a:r>
              <a:rPr dirty="0" sz="900" spc="165">
                <a:latin typeface="Arial MT"/>
                <a:cs typeface="Arial MT"/>
              </a:rPr>
              <a:t> </a:t>
            </a:r>
            <a:r>
              <a:rPr dirty="0" sz="900" spc="65">
                <a:latin typeface="Arial MT"/>
                <a:cs typeface="Arial MT"/>
              </a:rPr>
              <a:t>charging</a:t>
            </a:r>
            <a:r>
              <a:rPr dirty="0" sz="900" spc="175">
                <a:latin typeface="Arial MT"/>
                <a:cs typeface="Arial MT"/>
              </a:rPr>
              <a:t> </a:t>
            </a:r>
            <a:r>
              <a:rPr dirty="0" sz="900" spc="45">
                <a:latin typeface="Arial MT"/>
                <a:cs typeface="Arial MT"/>
              </a:rPr>
              <a:t>plugs.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60"/>
              </a:spcBef>
              <a:buAutoNum type="arabicPeriod" startAt="11"/>
            </a:pPr>
            <a:endParaRPr sz="900">
              <a:latin typeface="Arial MT"/>
              <a:cs typeface="Arial MT"/>
            </a:endParaRPr>
          </a:p>
          <a:p>
            <a:pPr marL="213360" indent="-198120">
              <a:lnSpc>
                <a:spcPct val="100000"/>
              </a:lnSpc>
              <a:buAutoNum type="arabicPeriod" startAt="11"/>
              <a:tabLst>
                <a:tab pos="213360" algn="l"/>
              </a:tabLst>
            </a:pPr>
            <a:r>
              <a:rPr dirty="0" sz="900" spc="50">
                <a:latin typeface="Arial MT"/>
                <a:cs typeface="Arial MT"/>
              </a:rPr>
              <a:t>Analyze</a:t>
            </a:r>
            <a:r>
              <a:rPr dirty="0" sz="900" spc="85">
                <a:latin typeface="Arial MT"/>
                <a:cs typeface="Arial MT"/>
              </a:rPr>
              <a:t> </a:t>
            </a:r>
            <a:r>
              <a:rPr dirty="0" sz="900" spc="60">
                <a:latin typeface="Arial MT"/>
                <a:cs typeface="Arial MT"/>
              </a:rPr>
              <a:t>charging</a:t>
            </a:r>
            <a:r>
              <a:rPr dirty="0" sz="900" spc="145">
                <a:latin typeface="Arial MT"/>
                <a:cs typeface="Arial MT"/>
              </a:rPr>
              <a:t> </a:t>
            </a:r>
            <a:r>
              <a:rPr dirty="0" sz="900" spc="50">
                <a:latin typeface="Arial MT"/>
                <a:cs typeface="Arial MT"/>
              </a:rPr>
              <a:t>demand</a:t>
            </a:r>
            <a:r>
              <a:rPr dirty="0" sz="900" spc="105">
                <a:latin typeface="Arial MT"/>
                <a:cs typeface="Arial MT"/>
              </a:rPr>
              <a:t> </a:t>
            </a:r>
            <a:r>
              <a:rPr dirty="0" sz="900" spc="20">
                <a:latin typeface="Arial MT"/>
                <a:cs typeface="Arial MT"/>
              </a:rPr>
              <a:t>per</a:t>
            </a:r>
            <a:r>
              <a:rPr dirty="0" sz="900" spc="155">
                <a:latin typeface="Arial MT"/>
                <a:cs typeface="Arial MT"/>
              </a:rPr>
              <a:t> </a:t>
            </a:r>
            <a:r>
              <a:rPr dirty="0" sz="900" spc="20">
                <a:latin typeface="Arial MT"/>
                <a:cs typeface="Arial MT"/>
              </a:rPr>
              <a:t>projected</a:t>
            </a:r>
            <a:r>
              <a:rPr dirty="0" sz="900" spc="110">
                <a:latin typeface="Arial MT"/>
                <a:cs typeface="Arial MT"/>
              </a:rPr>
              <a:t> </a:t>
            </a:r>
            <a:r>
              <a:rPr dirty="0" sz="900" spc="20">
                <a:latin typeface="Arial MT"/>
                <a:cs typeface="Arial MT"/>
              </a:rPr>
              <a:t>EV</a:t>
            </a:r>
            <a:r>
              <a:rPr dirty="0" sz="900" spc="140">
                <a:latin typeface="Arial MT"/>
                <a:cs typeface="Arial MT"/>
              </a:rPr>
              <a:t> </a:t>
            </a:r>
            <a:r>
              <a:rPr dirty="0" sz="900" spc="50">
                <a:latin typeface="Arial MT"/>
                <a:cs typeface="Arial MT"/>
              </a:rPr>
              <a:t>by</a:t>
            </a:r>
            <a:r>
              <a:rPr dirty="0" sz="900" spc="90">
                <a:latin typeface="Arial MT"/>
                <a:cs typeface="Arial MT"/>
              </a:rPr>
              <a:t> </a:t>
            </a:r>
            <a:r>
              <a:rPr dirty="0" sz="900" spc="60">
                <a:latin typeface="Arial MT"/>
                <a:cs typeface="Arial MT"/>
              </a:rPr>
              <a:t>district</a:t>
            </a:r>
            <a:r>
              <a:rPr dirty="0" sz="900" spc="95">
                <a:latin typeface="Arial MT"/>
                <a:cs typeface="Arial MT"/>
              </a:rPr>
              <a:t> </a:t>
            </a:r>
            <a:r>
              <a:rPr dirty="0" sz="900" spc="55">
                <a:latin typeface="Arial MT"/>
                <a:cs typeface="Arial MT"/>
              </a:rPr>
              <a:t>(total</a:t>
            </a:r>
            <a:r>
              <a:rPr dirty="0" sz="900" spc="75">
                <a:latin typeface="Arial MT"/>
                <a:cs typeface="Arial MT"/>
              </a:rPr>
              <a:t> </a:t>
            </a:r>
            <a:r>
              <a:rPr dirty="0" sz="900" spc="50">
                <a:latin typeface="Arial MT"/>
                <a:cs typeface="Arial MT"/>
              </a:rPr>
              <a:t>kWh</a:t>
            </a:r>
            <a:r>
              <a:rPr dirty="0" sz="900" spc="80"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268EDF"/>
                </a:solidFill>
                <a:latin typeface="Arial MT"/>
                <a:cs typeface="Arial MT"/>
              </a:rPr>
              <a:t>/</a:t>
            </a:r>
            <a:r>
              <a:rPr dirty="0" sz="900" spc="50">
                <a:solidFill>
                  <a:srgbClr val="268EDF"/>
                </a:solidFill>
                <a:latin typeface="Arial MT"/>
                <a:cs typeface="Arial MT"/>
              </a:rPr>
              <a:t> </a:t>
            </a:r>
            <a:r>
              <a:rPr dirty="0" sz="900" spc="55">
                <a:latin typeface="Arial MT"/>
                <a:cs typeface="Arial MT"/>
              </a:rPr>
              <a:t>projected</a:t>
            </a:r>
            <a:r>
              <a:rPr dirty="0" sz="900" spc="10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EVs).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95"/>
              </a:spcBef>
              <a:buAutoNum type="arabicPeriod" startAt="11"/>
            </a:pPr>
            <a:endParaRPr sz="900">
              <a:latin typeface="Arial MT"/>
              <a:cs typeface="Arial MT"/>
            </a:endParaRPr>
          </a:p>
          <a:p>
            <a:pPr marL="212725" indent="-197485">
              <a:lnSpc>
                <a:spcPct val="100000"/>
              </a:lnSpc>
              <a:spcBef>
                <a:spcPts val="5"/>
              </a:spcBef>
              <a:buAutoNum type="arabicPeriod" startAt="11"/>
              <a:tabLst>
                <a:tab pos="212725" algn="l"/>
              </a:tabLst>
            </a:pPr>
            <a:r>
              <a:rPr dirty="0" sz="900" spc="10">
                <a:latin typeface="Arial MT"/>
                <a:cs typeface="Arial MT"/>
              </a:rPr>
              <a:t>Ran</a:t>
            </a:r>
            <a:r>
              <a:rPr dirty="0" sz="900" spc="-140">
                <a:latin typeface="Arial MT"/>
                <a:cs typeface="Arial MT"/>
              </a:rPr>
              <a:t> </a:t>
            </a:r>
            <a:r>
              <a:rPr dirty="0" sz="900" spc="10">
                <a:latin typeface="Arial MT"/>
                <a:cs typeface="Arial MT"/>
              </a:rPr>
              <a:t>k</a:t>
            </a:r>
            <a:r>
              <a:rPr dirty="0" sz="900" spc="114">
                <a:latin typeface="Arial MT"/>
                <a:cs typeface="Arial MT"/>
              </a:rPr>
              <a:t> </a:t>
            </a:r>
            <a:r>
              <a:rPr dirty="0" sz="900" spc="65">
                <a:latin typeface="Arial MT"/>
                <a:cs typeface="Arial MT"/>
              </a:rPr>
              <a:t>districts</a:t>
            </a:r>
            <a:r>
              <a:rPr dirty="0" sz="900" spc="185">
                <a:latin typeface="Arial MT"/>
                <a:cs typeface="Arial MT"/>
              </a:rPr>
              <a:t> </a:t>
            </a:r>
            <a:r>
              <a:rPr dirty="0" sz="900" spc="10">
                <a:latin typeface="Arial MT"/>
                <a:cs typeface="Arial MT"/>
              </a:rPr>
              <a:t>based</a:t>
            </a:r>
            <a:r>
              <a:rPr dirty="0" sz="900" spc="145">
                <a:latin typeface="Arial MT"/>
                <a:cs typeface="Arial MT"/>
              </a:rPr>
              <a:t> </a:t>
            </a:r>
            <a:r>
              <a:rPr dirty="0" sz="900" spc="10">
                <a:latin typeface="Arial MT"/>
                <a:cs typeface="Arial MT"/>
              </a:rPr>
              <a:t>on</a:t>
            </a:r>
            <a:r>
              <a:rPr dirty="0" sz="900" spc="150">
                <a:latin typeface="Arial MT"/>
                <a:cs typeface="Arial MT"/>
              </a:rPr>
              <a:t> </a:t>
            </a:r>
            <a:r>
              <a:rPr dirty="0" sz="900" spc="65">
                <a:latin typeface="Arial MT"/>
                <a:cs typeface="Arial MT"/>
              </a:rPr>
              <a:t>infrastructure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 spc="55">
                <a:latin typeface="Arial MT"/>
                <a:cs typeface="Arial MT"/>
              </a:rPr>
              <a:t>readiness</a:t>
            </a:r>
            <a:r>
              <a:rPr dirty="0" sz="900" spc="210">
                <a:latin typeface="Arial MT"/>
                <a:cs typeface="Arial MT"/>
              </a:rPr>
              <a:t> </a:t>
            </a:r>
            <a:r>
              <a:rPr dirty="0" sz="900" spc="60">
                <a:latin typeface="Arial MT"/>
                <a:cs typeface="Arial MT"/>
              </a:rPr>
              <a:t>using</a:t>
            </a:r>
            <a:r>
              <a:rPr dirty="0" sz="900" spc="135">
                <a:latin typeface="Arial MT"/>
                <a:cs typeface="Arial MT"/>
              </a:rPr>
              <a:t> </a:t>
            </a:r>
            <a:r>
              <a:rPr dirty="0" sz="900" spc="10">
                <a:latin typeface="Arial MT"/>
                <a:cs typeface="Arial MT"/>
              </a:rPr>
              <a:t>actual</a:t>
            </a:r>
            <a:r>
              <a:rPr dirty="0" sz="900" spc="85">
                <a:latin typeface="Arial MT"/>
                <a:cs typeface="Arial MT"/>
              </a:rPr>
              <a:t> </a:t>
            </a:r>
            <a:r>
              <a:rPr dirty="0" sz="900" spc="60">
                <a:latin typeface="Arial MT"/>
                <a:cs typeface="Arial MT"/>
              </a:rPr>
              <a:t>charging</a:t>
            </a:r>
            <a:r>
              <a:rPr dirty="0" sz="900" spc="145">
                <a:latin typeface="Arial MT"/>
                <a:cs typeface="Arial MT"/>
              </a:rPr>
              <a:t> </a:t>
            </a:r>
            <a:r>
              <a:rPr dirty="0" sz="900" spc="60">
                <a:latin typeface="Arial MT"/>
                <a:cs typeface="Arial MT"/>
              </a:rPr>
              <a:t>usage</a:t>
            </a:r>
            <a:r>
              <a:rPr dirty="0" sz="900" spc="45">
                <a:latin typeface="Arial MT"/>
                <a:cs typeface="Arial MT"/>
              </a:rPr>
              <a:t> </a:t>
            </a:r>
            <a:r>
              <a:rPr dirty="0" sz="900" spc="60">
                <a:latin typeface="Arial MT"/>
                <a:cs typeface="Arial MT"/>
              </a:rPr>
              <a:t>vs</a:t>
            </a:r>
            <a:r>
              <a:rPr dirty="0" sz="900" spc="130">
                <a:latin typeface="Arial MT"/>
                <a:cs typeface="Arial MT"/>
              </a:rPr>
              <a:t> </a:t>
            </a:r>
            <a:r>
              <a:rPr dirty="0" sz="900" spc="50">
                <a:latin typeface="Arial MT"/>
                <a:cs typeface="Arial MT"/>
              </a:rPr>
              <a:t>projections.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AutoNum type="arabicPeriod" startAt="11"/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45"/>
              </a:spcBef>
              <a:buAutoNum type="arabicPeriod" startAt="11"/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50" spc="-20">
                <a:latin typeface="Arial MT"/>
                <a:cs typeface="Arial MT"/>
              </a:rPr>
              <a:t>SQL</a:t>
            </a:r>
            <a:r>
              <a:rPr dirty="0" sz="1250" spc="-70">
                <a:latin typeface="Arial MT"/>
                <a:cs typeface="Arial MT"/>
              </a:rPr>
              <a:t> </a:t>
            </a:r>
            <a:r>
              <a:rPr dirty="0" sz="1250" spc="-10">
                <a:latin typeface="Arial MT"/>
                <a:cs typeface="Arial MT"/>
              </a:rPr>
              <a:t>Deliverables</a:t>
            </a:r>
            <a:endParaRPr sz="1250">
              <a:latin typeface="Arial MT"/>
              <a:cs typeface="Arial MT"/>
            </a:endParaRPr>
          </a:p>
          <a:p>
            <a:pPr lvl="1" marL="301625" indent="-169545">
              <a:lnSpc>
                <a:spcPct val="100000"/>
              </a:lnSpc>
              <a:spcBef>
                <a:spcPts val="1140"/>
              </a:spcBef>
              <a:buClr>
                <a:srgbClr val="4F596B"/>
              </a:buClr>
              <a:buChar char="•"/>
              <a:tabLst>
                <a:tab pos="301625" algn="l"/>
              </a:tabLst>
            </a:pPr>
            <a:r>
              <a:rPr dirty="0" sz="950">
                <a:latin typeface="Arial MT"/>
                <a:cs typeface="Arial MT"/>
              </a:rPr>
              <a:t>One</a:t>
            </a:r>
            <a:r>
              <a:rPr dirty="0" sz="950" spc="229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SQL</a:t>
            </a:r>
            <a:r>
              <a:rPr dirty="0" sz="950" spc="2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file</a:t>
            </a:r>
            <a:r>
              <a:rPr dirty="0" sz="950" spc="1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or</a:t>
            </a:r>
            <a:r>
              <a:rPr dirty="0" sz="950" spc="16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notebook</a:t>
            </a:r>
            <a:r>
              <a:rPr dirty="0" sz="950" spc="25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containing</a:t>
            </a:r>
            <a:r>
              <a:rPr dirty="0" sz="950" spc="28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all</a:t>
            </a:r>
            <a:r>
              <a:rPr dirty="0" sz="950" spc="7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14</a:t>
            </a:r>
            <a:r>
              <a:rPr dirty="0" sz="950" spc="10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queries</a:t>
            </a:r>
            <a:endParaRPr sz="950">
              <a:latin typeface="Arial MT"/>
              <a:cs typeface="Arial MT"/>
            </a:endParaRPr>
          </a:p>
          <a:p>
            <a:pPr lvl="1" marL="311150" indent="-179070">
              <a:lnSpc>
                <a:spcPct val="100000"/>
              </a:lnSpc>
              <a:spcBef>
                <a:spcPts val="800"/>
              </a:spcBef>
              <a:buClr>
                <a:srgbClr val="4F596B"/>
              </a:buClr>
              <a:buChar char="•"/>
              <a:tabLst>
                <a:tab pos="311150" algn="l"/>
              </a:tabLst>
            </a:pPr>
            <a:r>
              <a:rPr dirty="0" sz="950" spc="10">
                <a:latin typeface="Arial MT"/>
                <a:cs typeface="Arial MT"/>
              </a:rPr>
              <a:t>Short</a:t>
            </a:r>
            <a:r>
              <a:rPr dirty="0" sz="950" spc="19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insights</a:t>
            </a:r>
            <a:r>
              <a:rPr dirty="0" sz="950" spc="24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written</a:t>
            </a:r>
            <a:r>
              <a:rPr dirty="0" sz="950" spc="2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below</a:t>
            </a:r>
            <a:r>
              <a:rPr dirty="0" sz="950" spc="14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each</a:t>
            </a:r>
            <a:r>
              <a:rPr dirty="0" sz="950" spc="1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query</a:t>
            </a:r>
            <a:r>
              <a:rPr dirty="0" sz="950" spc="254">
                <a:latin typeface="Arial MT"/>
                <a:cs typeface="Arial MT"/>
              </a:rPr>
              <a:t> </a:t>
            </a:r>
            <a:r>
              <a:rPr dirty="0" sz="950" spc="45">
                <a:latin typeface="Arial MT"/>
                <a:cs typeface="Arial MT"/>
              </a:rPr>
              <a:t>output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4619" y="3576747"/>
            <a:ext cx="222885" cy="0"/>
          </a:xfrm>
          <a:custGeom>
            <a:avLst/>
            <a:gdLst/>
            <a:ahLst/>
            <a:cxnLst/>
            <a:rect l="l" t="t" r="r" b="b"/>
            <a:pathLst>
              <a:path w="222885" h="0">
                <a:moveTo>
                  <a:pt x="0" y="0"/>
                </a:moveTo>
                <a:lnTo>
                  <a:pt x="222830" y="0"/>
                </a:lnTo>
              </a:path>
            </a:pathLst>
          </a:custGeom>
          <a:ln w="19744">
            <a:solidFill>
              <a:srgbClr val="133448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84619" y="3372251"/>
            <a:ext cx="222885" cy="214629"/>
            <a:chOff x="84619" y="3372251"/>
            <a:chExt cx="222885" cy="214629"/>
          </a:xfrm>
        </p:grpSpPr>
        <p:sp>
          <p:nvSpPr>
            <p:cNvPr id="4" name="object 4" descr=""/>
            <p:cNvSpPr/>
            <p:nvPr/>
          </p:nvSpPr>
          <p:spPr>
            <a:xfrm>
              <a:off x="84619" y="3372251"/>
              <a:ext cx="222885" cy="214629"/>
            </a:xfrm>
            <a:custGeom>
              <a:avLst/>
              <a:gdLst/>
              <a:ahLst/>
              <a:cxnLst/>
              <a:rect l="l" t="t" r="r" b="b"/>
              <a:pathLst>
                <a:path w="222885" h="214629">
                  <a:moveTo>
                    <a:pt x="0" y="9872"/>
                  </a:moveTo>
                  <a:lnTo>
                    <a:pt x="222830" y="9872"/>
                  </a:lnTo>
                </a:path>
                <a:path w="222885" h="214629">
                  <a:moveTo>
                    <a:pt x="9872" y="214368"/>
                  </a:moveTo>
                  <a:lnTo>
                    <a:pt x="9872" y="0"/>
                  </a:lnTo>
                </a:path>
              </a:pathLst>
            </a:custGeom>
            <a:ln w="19744">
              <a:solidFill>
                <a:srgbClr val="13344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97577" y="3372251"/>
              <a:ext cx="0" cy="214629"/>
            </a:xfrm>
            <a:custGeom>
              <a:avLst/>
              <a:gdLst/>
              <a:ahLst/>
              <a:cxnLst/>
              <a:rect l="l" t="t" r="r" b="b"/>
              <a:pathLst>
                <a:path w="0" h="214629">
                  <a:moveTo>
                    <a:pt x="0" y="214368"/>
                  </a:moveTo>
                  <a:lnTo>
                    <a:pt x="0" y="0"/>
                  </a:lnTo>
                </a:path>
              </a:pathLst>
            </a:custGeom>
            <a:ln w="19744">
              <a:solidFill>
                <a:srgbClr val="13344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37494" y="3326877"/>
            <a:ext cx="4167504" cy="257683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7785">
              <a:lnSpc>
                <a:spcPct val="100000"/>
              </a:lnSpc>
              <a:spcBef>
                <a:spcPts val="110"/>
              </a:spcBef>
              <a:tabLst>
                <a:tab pos="360045" algn="l"/>
              </a:tabLst>
            </a:pPr>
            <a:r>
              <a:rPr dirty="0" sz="1700" spc="-25">
                <a:solidFill>
                  <a:srgbClr val="16C60C"/>
                </a:solidFill>
                <a:latin typeface="Arial MT"/>
                <a:cs typeface="Arial MT"/>
              </a:rPr>
              <a:t>i</a:t>
            </a:r>
            <a:r>
              <a:rPr dirty="0" sz="1700" spc="-25">
                <a:solidFill>
                  <a:srgbClr val="EF3A16"/>
                </a:solidFill>
                <a:latin typeface="Arial MT"/>
                <a:cs typeface="Arial MT"/>
              </a:rPr>
              <a:t>i</a:t>
            </a:r>
            <a:r>
              <a:rPr dirty="0" sz="1700">
                <a:solidFill>
                  <a:srgbClr val="EF3A16"/>
                </a:solidFill>
                <a:latin typeface="Arial MT"/>
                <a:cs typeface="Arial MT"/>
              </a:rPr>
              <a:t>	</a:t>
            </a:r>
            <a:r>
              <a:rPr dirty="0" sz="1700">
                <a:solidFill>
                  <a:srgbClr val="3497DB"/>
                </a:solidFill>
                <a:latin typeface="Arial MT"/>
                <a:cs typeface="Arial MT"/>
              </a:rPr>
              <a:t>Part</a:t>
            </a:r>
            <a:r>
              <a:rPr dirty="0" sz="1700" spc="125">
                <a:solidFill>
                  <a:srgbClr val="3497DB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3497DB"/>
                </a:solidFill>
                <a:latin typeface="Arial MT"/>
                <a:cs typeface="Arial MT"/>
              </a:rPr>
              <a:t>2:</a:t>
            </a:r>
            <a:r>
              <a:rPr dirty="0" sz="1700" spc="125">
                <a:solidFill>
                  <a:srgbClr val="3497DB"/>
                </a:solidFill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Power</a:t>
            </a:r>
            <a:r>
              <a:rPr dirty="0" sz="1700" spc="150">
                <a:latin typeface="Arial MT"/>
                <a:cs typeface="Arial MT"/>
              </a:rPr>
              <a:t> </a:t>
            </a:r>
            <a:r>
              <a:rPr dirty="0" sz="1700" spc="60">
                <a:latin typeface="Arial MT"/>
                <a:cs typeface="Arial MT"/>
              </a:rPr>
              <a:t>BI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Dashboard</a:t>
            </a:r>
            <a:r>
              <a:rPr dirty="0" sz="1700" spc="18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(4</a:t>
            </a:r>
            <a:r>
              <a:rPr dirty="0" sz="1700" spc="-3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Pages)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20"/>
              </a:spcBef>
            </a:pPr>
            <a:endParaRPr sz="1700">
              <a:latin typeface="Arial MT"/>
              <a:cs typeface="Arial MT"/>
            </a:endParaRPr>
          </a:p>
          <a:p>
            <a:pPr marL="277495">
              <a:lnSpc>
                <a:spcPct val="100000"/>
              </a:lnSpc>
            </a:pPr>
            <a:r>
              <a:rPr dirty="0" sz="1450">
                <a:latin typeface="Arial MT"/>
                <a:cs typeface="Arial MT"/>
              </a:rPr>
              <a:t>Page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1:</a:t>
            </a:r>
            <a:r>
              <a:rPr dirty="0" sz="1450" spc="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EV</a:t>
            </a:r>
            <a:r>
              <a:rPr dirty="0" sz="1450" spc="15">
                <a:latin typeface="Arial MT"/>
                <a:cs typeface="Arial MT"/>
              </a:rPr>
              <a:t> </a:t>
            </a:r>
            <a:r>
              <a:rPr dirty="0" sz="1450" spc="-20">
                <a:latin typeface="Arial MT"/>
                <a:cs typeface="Arial MT"/>
              </a:rPr>
              <a:t>Infrastructure</a:t>
            </a:r>
            <a:r>
              <a:rPr dirty="0" sz="145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Overview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u="heavy" sz="950" spc="-20">
                <a:uFill>
                  <a:solidFill>
                    <a:srgbClr val="4F576B"/>
                  </a:solidFill>
                </a:uFill>
                <a:latin typeface="Arial MT"/>
                <a:cs typeface="Arial MT"/>
              </a:rPr>
              <a:t>KPls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950">
              <a:latin typeface="Arial MT"/>
              <a:cs typeface="Arial MT"/>
            </a:endParaRPr>
          </a:p>
          <a:p>
            <a:pPr marL="305435" indent="-172085">
              <a:lnSpc>
                <a:spcPct val="100000"/>
              </a:lnSpc>
              <a:spcBef>
                <a:spcPts val="5"/>
              </a:spcBef>
              <a:buClr>
                <a:srgbClr val="4F596B"/>
              </a:buClr>
              <a:buChar char="•"/>
              <a:tabLst>
                <a:tab pos="305435" algn="l"/>
              </a:tabLst>
            </a:pPr>
            <a:r>
              <a:rPr dirty="0" sz="950">
                <a:latin typeface="Arial MT"/>
                <a:cs typeface="Arial MT"/>
              </a:rPr>
              <a:t>Total</a:t>
            </a:r>
            <a:r>
              <a:rPr dirty="0" sz="950" spc="1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Charging</a:t>
            </a:r>
            <a:r>
              <a:rPr dirty="0" sz="950" spc="270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Stations</a:t>
            </a:r>
            <a:endParaRPr sz="950">
              <a:latin typeface="Arial MT"/>
              <a:cs typeface="Arial MT"/>
            </a:endParaRPr>
          </a:p>
          <a:p>
            <a:pPr marL="305435" indent="-172085">
              <a:lnSpc>
                <a:spcPct val="100000"/>
              </a:lnSpc>
              <a:spcBef>
                <a:spcPts val="790"/>
              </a:spcBef>
              <a:buClr>
                <a:srgbClr val="4F596B"/>
              </a:buClr>
              <a:buChar char="•"/>
              <a:tabLst>
                <a:tab pos="305435" algn="l"/>
              </a:tabLst>
            </a:pPr>
            <a:r>
              <a:rPr dirty="0" sz="950">
                <a:latin typeface="Arial MT"/>
                <a:cs typeface="Arial MT"/>
              </a:rPr>
              <a:t>Total</a:t>
            </a:r>
            <a:r>
              <a:rPr dirty="0" sz="950" spc="1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Charging</a:t>
            </a:r>
            <a:r>
              <a:rPr dirty="0" sz="950" spc="23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Plugs</a:t>
            </a:r>
            <a:endParaRPr sz="950">
              <a:latin typeface="Arial MT"/>
              <a:cs typeface="Arial MT"/>
            </a:endParaRPr>
          </a:p>
          <a:p>
            <a:pPr marL="299720" indent="-166370">
              <a:lnSpc>
                <a:spcPct val="100000"/>
              </a:lnSpc>
              <a:spcBef>
                <a:spcPts val="790"/>
              </a:spcBef>
              <a:buClr>
                <a:srgbClr val="4F596B"/>
              </a:buClr>
              <a:buChar char="•"/>
              <a:tabLst>
                <a:tab pos="299720" algn="l"/>
              </a:tabLst>
            </a:pPr>
            <a:r>
              <a:rPr dirty="0" sz="950">
                <a:latin typeface="Arial MT"/>
                <a:cs typeface="Arial MT"/>
              </a:rPr>
              <a:t>Avemge</a:t>
            </a:r>
            <a:r>
              <a:rPr dirty="0" sz="950" spc="13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Plugs</a:t>
            </a:r>
            <a:r>
              <a:rPr dirty="0" sz="950" spc="229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per</a:t>
            </a:r>
            <a:r>
              <a:rPr dirty="0" sz="950" spc="30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Station</a:t>
            </a:r>
            <a:endParaRPr sz="950">
              <a:latin typeface="Arial MT"/>
              <a:cs typeface="Arial MT"/>
            </a:endParaRPr>
          </a:p>
          <a:p>
            <a:pPr marL="305435" indent="-172085">
              <a:lnSpc>
                <a:spcPct val="100000"/>
              </a:lnSpc>
              <a:spcBef>
                <a:spcPts val="795"/>
              </a:spcBef>
              <a:buClr>
                <a:srgbClr val="4F596B"/>
              </a:buClr>
              <a:buChar char="•"/>
              <a:tabLst>
                <a:tab pos="305435" algn="l"/>
              </a:tabLst>
            </a:pPr>
            <a:r>
              <a:rPr dirty="0" sz="950" spc="10">
                <a:latin typeface="Arial MT"/>
                <a:cs typeface="Arial MT"/>
              </a:rPr>
              <a:t>Total</a:t>
            </a:r>
            <a:r>
              <a:rPr dirty="0" sz="950" spc="13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Districts</a:t>
            </a:r>
            <a:r>
              <a:rPr dirty="0" sz="950" spc="22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Covered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950">
              <a:latin typeface="Arial MT"/>
              <a:cs typeface="Arial MT"/>
            </a:endParaRPr>
          </a:p>
          <a:p>
            <a:pPr marL="20955">
              <a:lnSpc>
                <a:spcPct val="100000"/>
              </a:lnSpc>
            </a:pPr>
            <a:r>
              <a:rPr dirty="0" u="sng" sz="900" spc="-10">
                <a:uFill>
                  <a:solidFill>
                    <a:srgbClr val="4F576B"/>
                  </a:solidFill>
                </a:uFill>
                <a:latin typeface="Arial MT"/>
                <a:cs typeface="Arial MT"/>
              </a:rPr>
              <a:t>Visuals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58433" y="6399497"/>
            <a:ext cx="2125980" cy="6559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80975" indent="-168275">
              <a:lnSpc>
                <a:spcPct val="100000"/>
              </a:lnSpc>
              <a:spcBef>
                <a:spcPts val="120"/>
              </a:spcBef>
              <a:buClr>
                <a:srgbClr val="4F596B"/>
              </a:buClr>
              <a:buChar char="•"/>
              <a:tabLst>
                <a:tab pos="180975" algn="l"/>
              </a:tabLst>
            </a:pPr>
            <a:r>
              <a:rPr dirty="0" sz="950">
                <a:latin typeface="Arial MT"/>
                <a:cs typeface="Arial MT"/>
              </a:rPr>
              <a:t>Charg</a:t>
            </a:r>
            <a:r>
              <a:rPr dirty="0" sz="950" spc="-10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ing</a:t>
            </a:r>
            <a:r>
              <a:rPr dirty="0" sz="950" spc="2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stations</a:t>
            </a:r>
            <a:r>
              <a:rPr dirty="0" sz="950" spc="25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by</a:t>
            </a:r>
            <a:r>
              <a:rPr dirty="0" sz="950" spc="18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district</a:t>
            </a:r>
            <a:endParaRPr sz="950">
              <a:latin typeface="Arial MT"/>
              <a:cs typeface="Arial MT"/>
            </a:endParaRPr>
          </a:p>
          <a:p>
            <a:pPr marL="180975" indent="-168275">
              <a:lnSpc>
                <a:spcPct val="100000"/>
              </a:lnSpc>
              <a:spcBef>
                <a:spcPts val="790"/>
              </a:spcBef>
              <a:buClr>
                <a:srgbClr val="4F596B"/>
              </a:buClr>
              <a:buChar char="•"/>
              <a:tabLst>
                <a:tab pos="180975" algn="l"/>
              </a:tabLst>
            </a:pPr>
            <a:r>
              <a:rPr dirty="0" sz="950">
                <a:latin typeface="Arial MT"/>
                <a:cs typeface="Arial MT"/>
              </a:rPr>
              <a:t>Charg</a:t>
            </a:r>
            <a:r>
              <a:rPr dirty="0" sz="950" spc="-1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ing</a:t>
            </a:r>
            <a:r>
              <a:rPr dirty="0" sz="950" spc="15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plugs</a:t>
            </a:r>
            <a:r>
              <a:rPr dirty="0" sz="950" spc="2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by</a:t>
            </a:r>
            <a:r>
              <a:rPr dirty="0" sz="950" spc="170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district</a:t>
            </a:r>
            <a:endParaRPr sz="950">
              <a:latin typeface="Arial MT"/>
              <a:cs typeface="Arial MT"/>
            </a:endParaRPr>
          </a:p>
          <a:p>
            <a:pPr marL="175895" indent="-163195">
              <a:lnSpc>
                <a:spcPct val="100000"/>
              </a:lnSpc>
              <a:spcBef>
                <a:spcPts val="730"/>
              </a:spcBef>
              <a:buClr>
                <a:srgbClr val="4F596B"/>
              </a:buClr>
              <a:buChar char="•"/>
              <a:tabLst>
                <a:tab pos="175895" algn="l"/>
              </a:tabLst>
            </a:pPr>
            <a:r>
              <a:rPr dirty="0" sz="950" spc="45">
                <a:latin typeface="Arial MT"/>
                <a:cs typeface="Arial MT"/>
              </a:rPr>
              <a:t>Infrastructure</a:t>
            </a:r>
            <a:r>
              <a:rPr dirty="0" sz="950" spc="6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split</a:t>
            </a:r>
            <a:r>
              <a:rPr dirty="0" sz="950" spc="16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by</a:t>
            </a:r>
            <a:r>
              <a:rPr dirty="0" sz="950" spc="2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income</a:t>
            </a:r>
            <a:r>
              <a:rPr dirty="0" sz="950" spc="200">
                <a:latin typeface="Arial MT"/>
                <a:cs typeface="Arial MT"/>
              </a:rPr>
              <a:t> </a:t>
            </a:r>
            <a:r>
              <a:rPr dirty="0" sz="950" spc="-20">
                <a:latin typeface="Arial MT"/>
                <a:cs typeface="Arial MT"/>
              </a:rPr>
              <a:t>tier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682" y="3829297"/>
            <a:ext cx="3226435" cy="1638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78765">
              <a:lnSpc>
                <a:spcPct val="100000"/>
              </a:lnSpc>
              <a:spcBef>
                <a:spcPts val="135"/>
              </a:spcBef>
            </a:pPr>
            <a:r>
              <a:rPr dirty="0" sz="1450">
                <a:latin typeface="Arial MT"/>
                <a:cs typeface="Arial MT"/>
              </a:rPr>
              <a:t>Page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2:</a:t>
            </a:r>
            <a:r>
              <a:rPr dirty="0" sz="1450" spc="-35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Charging</a:t>
            </a:r>
            <a:r>
              <a:rPr dirty="0" sz="1450" spc="45">
                <a:latin typeface="Arial MT"/>
                <a:cs typeface="Arial MT"/>
              </a:rPr>
              <a:t> </a:t>
            </a:r>
            <a:r>
              <a:rPr dirty="0" sz="1450" spc="-20">
                <a:latin typeface="Arial MT"/>
                <a:cs typeface="Arial MT"/>
              </a:rPr>
              <a:t>Usage</a:t>
            </a:r>
            <a:r>
              <a:rPr dirty="0" sz="1450" spc="25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&amp;</a:t>
            </a:r>
            <a:r>
              <a:rPr dirty="0" sz="1450" spc="-5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Demand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u="heavy" sz="950" spc="-20">
                <a:uFill>
                  <a:solidFill>
                    <a:srgbClr val="4F576B"/>
                  </a:solidFill>
                </a:uFill>
                <a:latin typeface="Arial MT"/>
                <a:cs typeface="Arial MT"/>
              </a:rPr>
              <a:t>KPls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950">
              <a:latin typeface="Arial MT"/>
              <a:cs typeface="Arial MT"/>
            </a:endParaRPr>
          </a:p>
          <a:p>
            <a:pPr marL="306070" indent="-172085">
              <a:lnSpc>
                <a:spcPct val="100000"/>
              </a:lnSpc>
              <a:spcBef>
                <a:spcPts val="5"/>
              </a:spcBef>
              <a:buClr>
                <a:srgbClr val="4F596B"/>
              </a:buClr>
              <a:buChar char="•"/>
              <a:tabLst>
                <a:tab pos="306070" algn="l"/>
              </a:tabLst>
            </a:pPr>
            <a:r>
              <a:rPr dirty="0" sz="950">
                <a:latin typeface="Arial MT"/>
                <a:cs typeface="Arial MT"/>
              </a:rPr>
              <a:t>Total</a:t>
            </a:r>
            <a:r>
              <a:rPr dirty="0" sz="950" spc="16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Charging</a:t>
            </a:r>
            <a:r>
              <a:rPr dirty="0" sz="950" spc="29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Sessions</a:t>
            </a:r>
            <a:endParaRPr sz="950">
              <a:latin typeface="Arial MT"/>
              <a:cs typeface="Arial MT"/>
            </a:endParaRPr>
          </a:p>
          <a:p>
            <a:pPr marL="306070" indent="-172085">
              <a:lnSpc>
                <a:spcPct val="100000"/>
              </a:lnSpc>
              <a:spcBef>
                <a:spcPts val="795"/>
              </a:spcBef>
              <a:buClr>
                <a:srgbClr val="4F596B"/>
              </a:buClr>
              <a:buChar char="•"/>
              <a:tabLst>
                <a:tab pos="306070" algn="l"/>
              </a:tabLst>
            </a:pPr>
            <a:r>
              <a:rPr dirty="0" sz="950">
                <a:latin typeface="Arial MT"/>
                <a:cs typeface="Arial MT"/>
              </a:rPr>
              <a:t>Total</a:t>
            </a:r>
            <a:r>
              <a:rPr dirty="0" sz="950" spc="1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Energy</a:t>
            </a:r>
            <a:r>
              <a:rPr dirty="0" sz="950" spc="23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Charged</a:t>
            </a:r>
            <a:r>
              <a:rPr dirty="0" sz="950" spc="19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(kWh)</a:t>
            </a:r>
            <a:endParaRPr sz="950">
              <a:latin typeface="Arial MT"/>
              <a:cs typeface="Arial MT"/>
            </a:endParaRPr>
          </a:p>
          <a:p>
            <a:pPr marL="300990" indent="-167005">
              <a:lnSpc>
                <a:spcPct val="100000"/>
              </a:lnSpc>
              <a:spcBef>
                <a:spcPts val="800"/>
              </a:spcBef>
              <a:buClr>
                <a:srgbClr val="4F596B"/>
              </a:buClr>
              <a:buChar char="•"/>
              <a:tabLst>
                <a:tab pos="300990" algn="l"/>
              </a:tabLst>
            </a:pPr>
            <a:r>
              <a:rPr dirty="0" sz="950">
                <a:latin typeface="Arial MT"/>
                <a:cs typeface="Arial MT"/>
              </a:rPr>
              <a:t>Avemge</a:t>
            </a:r>
            <a:r>
              <a:rPr dirty="0" sz="950" spc="1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kWh</a:t>
            </a:r>
            <a:r>
              <a:rPr dirty="0" sz="950" spc="2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per</a:t>
            </a:r>
            <a:r>
              <a:rPr dirty="0" sz="950" spc="250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Session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950">
              <a:latin typeface="Arial MT"/>
              <a:cs typeface="Arial MT"/>
            </a:endParaRPr>
          </a:p>
          <a:p>
            <a:pPr marL="20955">
              <a:lnSpc>
                <a:spcPct val="100000"/>
              </a:lnSpc>
            </a:pPr>
            <a:r>
              <a:rPr dirty="0" u="sng" sz="900" spc="-10">
                <a:uFill>
                  <a:solidFill>
                    <a:srgbClr val="4F576B"/>
                  </a:solidFill>
                </a:uFill>
                <a:latin typeface="Arial MT"/>
                <a:cs typeface="Arial MT"/>
              </a:rPr>
              <a:t>Visuals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42029" y="5965824"/>
            <a:ext cx="2442210" cy="666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77800" indent="-165100">
              <a:lnSpc>
                <a:spcPct val="100000"/>
              </a:lnSpc>
              <a:spcBef>
                <a:spcPts val="125"/>
              </a:spcBef>
              <a:buClr>
                <a:srgbClr val="4F596B"/>
              </a:buClr>
              <a:buChar char="•"/>
              <a:tabLst>
                <a:tab pos="177800" algn="l"/>
              </a:tabLst>
            </a:pPr>
            <a:r>
              <a:rPr dirty="0" sz="950">
                <a:latin typeface="Arial MT"/>
                <a:cs typeface="Arial MT"/>
              </a:rPr>
              <a:t>Energy</a:t>
            </a:r>
            <a:r>
              <a:rPr dirty="0" sz="950" spc="229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charged</a:t>
            </a:r>
            <a:r>
              <a:rPr dirty="0" sz="950" spc="204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by</a:t>
            </a:r>
            <a:r>
              <a:rPr dirty="0" sz="950" spc="2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the</a:t>
            </a:r>
            <a:r>
              <a:rPr dirty="0" sz="950" spc="16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district</a:t>
            </a:r>
            <a:endParaRPr sz="950">
              <a:latin typeface="Arial MT"/>
              <a:cs typeface="Arial MT"/>
            </a:endParaRPr>
          </a:p>
          <a:p>
            <a:pPr marL="178435" indent="-165735">
              <a:lnSpc>
                <a:spcPct val="100000"/>
              </a:lnSpc>
              <a:spcBef>
                <a:spcPts val="795"/>
              </a:spcBef>
              <a:buClr>
                <a:srgbClr val="4F596B"/>
              </a:buClr>
              <a:buChar char="•"/>
              <a:tabLst>
                <a:tab pos="178435" algn="l"/>
              </a:tabLst>
            </a:pPr>
            <a:r>
              <a:rPr dirty="0" sz="950" spc="10">
                <a:latin typeface="Arial MT"/>
                <a:cs typeface="Arial MT"/>
              </a:rPr>
              <a:t>Most</a:t>
            </a:r>
            <a:r>
              <a:rPr dirty="0" sz="950" spc="13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used</a:t>
            </a:r>
            <a:r>
              <a:rPr dirty="0" sz="950" spc="17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charg</a:t>
            </a:r>
            <a:r>
              <a:rPr dirty="0" sz="950" spc="-114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ing</a:t>
            </a:r>
            <a:r>
              <a:rPr dirty="0" sz="950" spc="180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stations</a:t>
            </a:r>
            <a:endParaRPr sz="950">
              <a:latin typeface="Arial MT"/>
              <a:cs typeface="Arial MT"/>
            </a:endParaRPr>
          </a:p>
          <a:p>
            <a:pPr marL="181610" indent="-168910">
              <a:lnSpc>
                <a:spcPct val="100000"/>
              </a:lnSpc>
              <a:spcBef>
                <a:spcPts val="800"/>
              </a:spcBef>
              <a:buClr>
                <a:srgbClr val="4F596B"/>
              </a:buClr>
              <a:buChar char="•"/>
              <a:tabLst>
                <a:tab pos="181610" algn="l"/>
              </a:tabLst>
            </a:pPr>
            <a:r>
              <a:rPr dirty="0" sz="950">
                <a:latin typeface="Arial MT"/>
                <a:cs typeface="Arial MT"/>
              </a:rPr>
              <a:t>Charg</a:t>
            </a:r>
            <a:r>
              <a:rPr dirty="0" sz="950" spc="-10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ing</a:t>
            </a:r>
            <a:r>
              <a:rPr dirty="0" sz="950" spc="2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sessions</a:t>
            </a:r>
            <a:r>
              <a:rPr dirty="0" sz="950" spc="254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by</a:t>
            </a:r>
            <a:r>
              <a:rPr dirty="0" sz="950" spc="204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time</a:t>
            </a:r>
            <a:r>
              <a:rPr dirty="0" sz="950" spc="1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(hour</a:t>
            </a:r>
            <a:r>
              <a:rPr dirty="0" sz="950" spc="204"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268E"/>
                </a:solidFill>
                <a:latin typeface="Arial MT"/>
                <a:cs typeface="Arial MT"/>
              </a:rPr>
              <a:t>/</a:t>
            </a:r>
            <a:r>
              <a:rPr dirty="0" sz="950" spc="185">
                <a:solidFill>
                  <a:srgbClr val="00268E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latin typeface="Arial MT"/>
                <a:cs typeface="Arial MT"/>
              </a:rPr>
              <a:t>day)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9079" y="3654785"/>
            <a:ext cx="3274695" cy="13315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78130">
              <a:lnSpc>
                <a:spcPct val="100000"/>
              </a:lnSpc>
              <a:spcBef>
                <a:spcPts val="130"/>
              </a:spcBef>
            </a:pPr>
            <a:r>
              <a:rPr dirty="0" sz="1450">
                <a:latin typeface="Arial MT"/>
                <a:cs typeface="Arial MT"/>
              </a:rPr>
              <a:t>Page</a:t>
            </a:r>
            <a:r>
              <a:rPr dirty="0" sz="1450" spc="-2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3:</a:t>
            </a:r>
            <a:r>
              <a:rPr dirty="0" sz="1450" spc="-5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Customer</a:t>
            </a:r>
            <a:r>
              <a:rPr dirty="0" sz="1450" spc="105">
                <a:latin typeface="Arial MT"/>
                <a:cs typeface="Arial MT"/>
              </a:rPr>
              <a:t> </a:t>
            </a:r>
            <a:r>
              <a:rPr dirty="0" sz="1450" spc="-25">
                <a:latin typeface="Arial MT"/>
                <a:cs typeface="Arial MT"/>
              </a:rPr>
              <a:t>Behavior</a:t>
            </a:r>
            <a:r>
              <a:rPr dirty="0" sz="1450">
                <a:latin typeface="Arial MT"/>
                <a:cs typeface="Arial MT"/>
              </a:rPr>
              <a:t> </a:t>
            </a:r>
            <a:r>
              <a:rPr dirty="0" sz="1450" spc="-10">
                <a:latin typeface="Arial MT"/>
                <a:cs typeface="Arial MT"/>
              </a:rPr>
              <a:t>Analysis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dirty="0" u="heavy" sz="950" spc="-20">
                <a:uFill>
                  <a:solidFill>
                    <a:srgbClr val="4F576B"/>
                  </a:solidFill>
                </a:uFill>
                <a:latin typeface="Arial MT"/>
                <a:cs typeface="Arial MT"/>
              </a:rPr>
              <a:t>KPls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950">
              <a:latin typeface="Arial MT"/>
              <a:cs typeface="Arial MT"/>
            </a:endParaRPr>
          </a:p>
          <a:p>
            <a:pPr marL="305435" indent="-172085">
              <a:lnSpc>
                <a:spcPct val="100000"/>
              </a:lnSpc>
              <a:buClr>
                <a:srgbClr val="4F596B"/>
              </a:buClr>
              <a:buChar char="•"/>
              <a:tabLst>
                <a:tab pos="305435" algn="l"/>
              </a:tabLst>
            </a:pPr>
            <a:r>
              <a:rPr dirty="0" sz="950">
                <a:latin typeface="Arial MT"/>
                <a:cs typeface="Arial MT"/>
              </a:rPr>
              <a:t>Total</a:t>
            </a:r>
            <a:r>
              <a:rPr dirty="0" sz="950" spc="3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Customers</a:t>
            </a:r>
            <a:endParaRPr sz="950">
              <a:latin typeface="Arial MT"/>
              <a:cs typeface="Arial MT"/>
            </a:endParaRPr>
          </a:p>
          <a:p>
            <a:pPr marL="299720" indent="-166370">
              <a:lnSpc>
                <a:spcPct val="100000"/>
              </a:lnSpc>
              <a:spcBef>
                <a:spcPts val="795"/>
              </a:spcBef>
              <a:buClr>
                <a:srgbClr val="4F596B"/>
              </a:buClr>
              <a:buChar char="•"/>
              <a:tabLst>
                <a:tab pos="299720" algn="l"/>
              </a:tabLst>
            </a:pPr>
            <a:r>
              <a:rPr dirty="0" sz="950">
                <a:latin typeface="Arial MT"/>
                <a:cs typeface="Arial MT"/>
              </a:rPr>
              <a:t>Avemge</a:t>
            </a:r>
            <a:r>
              <a:rPr dirty="0" sz="950" spc="18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Battery</a:t>
            </a:r>
            <a:r>
              <a:rPr dirty="0" sz="950" spc="350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Capacity</a:t>
            </a:r>
            <a:endParaRPr sz="950">
              <a:latin typeface="Arial MT"/>
              <a:cs typeface="Arial MT"/>
            </a:endParaRPr>
          </a:p>
          <a:p>
            <a:pPr marL="299720" indent="-166370">
              <a:lnSpc>
                <a:spcPct val="100000"/>
              </a:lnSpc>
              <a:spcBef>
                <a:spcPts val="730"/>
              </a:spcBef>
              <a:buClr>
                <a:srgbClr val="4F596B"/>
              </a:buClr>
              <a:buChar char="•"/>
              <a:tabLst>
                <a:tab pos="299720" algn="l"/>
              </a:tabLst>
            </a:pPr>
            <a:r>
              <a:rPr dirty="0" sz="950">
                <a:latin typeface="Arial MT"/>
                <a:cs typeface="Arial MT"/>
              </a:rPr>
              <a:t>Avemge</a:t>
            </a:r>
            <a:r>
              <a:rPr dirty="0" sz="950" spc="10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Energy</a:t>
            </a:r>
            <a:r>
              <a:rPr dirty="0" sz="950" spc="254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Charged</a:t>
            </a:r>
            <a:r>
              <a:rPr dirty="0" sz="950" spc="28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per</a:t>
            </a:r>
            <a:r>
              <a:rPr dirty="0" sz="950" spc="17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Customer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7611" y="5462019"/>
            <a:ext cx="439420" cy="1670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900" spc="-10">
                <a:uFill>
                  <a:solidFill>
                    <a:srgbClr val="4F576B"/>
                  </a:solidFill>
                </a:uFill>
                <a:latin typeface="Arial MT"/>
                <a:cs typeface="Arial MT"/>
              </a:rPr>
              <a:t>Visuals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50153" y="6125376"/>
            <a:ext cx="2571115" cy="66548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81610" indent="-168910">
              <a:lnSpc>
                <a:spcPct val="100000"/>
              </a:lnSpc>
              <a:spcBef>
                <a:spcPts val="120"/>
              </a:spcBef>
              <a:buClr>
                <a:srgbClr val="4F596B"/>
              </a:buClr>
              <a:buChar char="•"/>
              <a:tabLst>
                <a:tab pos="181610" algn="l"/>
              </a:tabLst>
            </a:pPr>
            <a:r>
              <a:rPr dirty="0" sz="950">
                <a:latin typeface="Arial MT"/>
                <a:cs typeface="Arial MT"/>
              </a:rPr>
              <a:t>Charg</a:t>
            </a:r>
            <a:r>
              <a:rPr dirty="0" sz="950" spc="-10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ing</a:t>
            </a:r>
            <a:r>
              <a:rPr dirty="0" sz="950" spc="17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behavior</a:t>
            </a:r>
            <a:r>
              <a:rPr dirty="0" sz="950" spc="26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by</a:t>
            </a:r>
            <a:r>
              <a:rPr dirty="0" sz="950" spc="24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income</a:t>
            </a:r>
            <a:r>
              <a:rPr dirty="0" sz="950" spc="225">
                <a:latin typeface="Arial MT"/>
                <a:cs typeface="Arial MT"/>
              </a:rPr>
              <a:t> </a:t>
            </a:r>
            <a:r>
              <a:rPr dirty="0" sz="950" spc="-20">
                <a:latin typeface="Arial MT"/>
                <a:cs typeface="Arial MT"/>
              </a:rPr>
              <a:t>tier</a:t>
            </a:r>
            <a:endParaRPr sz="950">
              <a:latin typeface="Arial MT"/>
              <a:cs typeface="Arial MT"/>
            </a:endParaRPr>
          </a:p>
          <a:p>
            <a:pPr marL="181610" indent="-168910">
              <a:lnSpc>
                <a:spcPct val="100000"/>
              </a:lnSpc>
              <a:spcBef>
                <a:spcPts val="795"/>
              </a:spcBef>
              <a:buClr>
                <a:srgbClr val="4F596B"/>
              </a:buClr>
              <a:buChar char="•"/>
              <a:tabLst>
                <a:tab pos="181610" algn="l"/>
              </a:tabLst>
            </a:pPr>
            <a:r>
              <a:rPr dirty="0" sz="950">
                <a:latin typeface="Arial MT"/>
                <a:cs typeface="Arial MT"/>
              </a:rPr>
              <a:t>Car</a:t>
            </a:r>
            <a:r>
              <a:rPr dirty="0" sz="950" spc="14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model</a:t>
            </a:r>
            <a:r>
              <a:rPr dirty="0" sz="950" spc="10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vs</a:t>
            </a:r>
            <a:r>
              <a:rPr dirty="0" sz="950" spc="10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average</a:t>
            </a:r>
            <a:r>
              <a:rPr dirty="0" sz="950" spc="19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kWh</a:t>
            </a:r>
            <a:r>
              <a:rPr dirty="0" sz="950" spc="16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charged</a:t>
            </a:r>
            <a:endParaRPr sz="950">
              <a:latin typeface="Arial MT"/>
              <a:cs typeface="Arial MT"/>
            </a:endParaRPr>
          </a:p>
          <a:p>
            <a:pPr marL="184785" indent="-172085">
              <a:lnSpc>
                <a:spcPct val="100000"/>
              </a:lnSpc>
              <a:spcBef>
                <a:spcPts val="795"/>
              </a:spcBef>
              <a:buClr>
                <a:srgbClr val="4F596B"/>
              </a:buClr>
              <a:buChar char="•"/>
              <a:tabLst>
                <a:tab pos="184785" algn="l"/>
              </a:tabLst>
            </a:pPr>
            <a:r>
              <a:rPr dirty="0" sz="950">
                <a:latin typeface="Arial MT"/>
                <a:cs typeface="Arial MT"/>
              </a:rPr>
              <a:t>Top</a:t>
            </a:r>
            <a:r>
              <a:rPr dirty="0" sz="950" spc="16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customers</a:t>
            </a:r>
            <a:r>
              <a:rPr dirty="0" sz="950" spc="310"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0056"/>
                </a:solidFill>
                <a:latin typeface="Arial MT"/>
                <a:cs typeface="Arial MT"/>
              </a:rPr>
              <a:t>by</a:t>
            </a:r>
            <a:r>
              <a:rPr dirty="0" sz="950" spc="270">
                <a:solidFill>
                  <a:srgbClr val="000056"/>
                </a:solidFill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charging</a:t>
            </a:r>
            <a:r>
              <a:rPr dirty="0" sz="950" spc="200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consumption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5694" y="3558833"/>
            <a:ext cx="3315335" cy="36074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76225">
              <a:lnSpc>
                <a:spcPct val="100000"/>
              </a:lnSpc>
              <a:spcBef>
                <a:spcPts val="125"/>
              </a:spcBef>
            </a:pPr>
            <a:r>
              <a:rPr dirty="0" sz="1450">
                <a:latin typeface="Arial MT"/>
                <a:cs typeface="Arial MT"/>
              </a:rPr>
              <a:t>Page</a:t>
            </a:r>
            <a:r>
              <a:rPr dirty="0" sz="1450" spc="1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4:</a:t>
            </a:r>
            <a:r>
              <a:rPr dirty="0" sz="1450" spc="-30">
                <a:latin typeface="Arial MT"/>
                <a:cs typeface="Arial MT"/>
              </a:rPr>
              <a:t> </a:t>
            </a:r>
            <a:r>
              <a:rPr dirty="0" sz="1450" spc="-20">
                <a:latin typeface="Arial MT"/>
                <a:cs typeface="Arial MT"/>
              </a:rPr>
              <a:t>Revenue</a:t>
            </a:r>
            <a:r>
              <a:rPr dirty="0" sz="1450" spc="50">
                <a:latin typeface="Arial MT"/>
                <a:cs typeface="Arial MT"/>
              </a:rPr>
              <a:t> </a:t>
            </a:r>
            <a:r>
              <a:rPr dirty="0" sz="1450">
                <a:latin typeface="Arial MT"/>
                <a:cs typeface="Arial MT"/>
              </a:rPr>
              <a:t>&amp;</a:t>
            </a:r>
            <a:r>
              <a:rPr dirty="0" sz="1450" spc="-10">
                <a:latin typeface="Arial MT"/>
                <a:cs typeface="Arial MT"/>
              </a:rPr>
              <a:t> </a:t>
            </a:r>
            <a:r>
              <a:rPr dirty="0" sz="1450" spc="-20">
                <a:latin typeface="Arial MT"/>
                <a:cs typeface="Arial MT"/>
              </a:rPr>
              <a:t>Planning</a:t>
            </a:r>
            <a:r>
              <a:rPr dirty="0" sz="1450" spc="5"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000026"/>
                </a:solidFill>
                <a:latin typeface="Arial MT"/>
                <a:cs typeface="Arial MT"/>
              </a:rPr>
              <a:t>Insights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u="heavy" sz="950" spc="-20">
                <a:uFill>
                  <a:solidFill>
                    <a:srgbClr val="4F576B"/>
                  </a:solidFill>
                </a:uFill>
                <a:latin typeface="Arial MT"/>
                <a:cs typeface="Arial MT"/>
              </a:rPr>
              <a:t>KPls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950">
              <a:latin typeface="Arial MT"/>
              <a:cs typeface="Arial MT"/>
            </a:endParaRPr>
          </a:p>
          <a:p>
            <a:pPr marL="303530" indent="-170815">
              <a:lnSpc>
                <a:spcPct val="100000"/>
              </a:lnSpc>
              <a:buClr>
                <a:srgbClr val="4F596B"/>
              </a:buClr>
              <a:buChar char="•"/>
              <a:tabLst>
                <a:tab pos="303530" algn="l"/>
              </a:tabLst>
            </a:pPr>
            <a:r>
              <a:rPr dirty="0" sz="950">
                <a:latin typeface="Arial MT"/>
                <a:cs typeface="Arial MT"/>
              </a:rPr>
              <a:t>Total</a:t>
            </a:r>
            <a:r>
              <a:rPr dirty="0" sz="950" spc="1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Charging</a:t>
            </a:r>
            <a:r>
              <a:rPr dirty="0" sz="950" spc="229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Revenue</a:t>
            </a:r>
            <a:endParaRPr sz="950">
              <a:latin typeface="Arial MT"/>
              <a:cs typeface="Arial MT"/>
            </a:endParaRPr>
          </a:p>
          <a:p>
            <a:pPr marL="297815" indent="-165100">
              <a:lnSpc>
                <a:spcPct val="100000"/>
              </a:lnSpc>
              <a:spcBef>
                <a:spcPts val="785"/>
              </a:spcBef>
              <a:buClr>
                <a:srgbClr val="4F596B"/>
              </a:buClr>
              <a:buChar char="•"/>
              <a:tabLst>
                <a:tab pos="297815" algn="l"/>
              </a:tabLst>
            </a:pPr>
            <a:r>
              <a:rPr dirty="0" sz="950">
                <a:latin typeface="Arial MT"/>
                <a:cs typeface="Arial MT"/>
              </a:rPr>
              <a:t>Avemge</a:t>
            </a:r>
            <a:r>
              <a:rPr dirty="0" sz="950" spc="26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Session</a:t>
            </a:r>
            <a:r>
              <a:rPr dirty="0" sz="950" spc="200">
                <a:latin typeface="Arial MT"/>
                <a:cs typeface="Arial MT"/>
              </a:rPr>
              <a:t> </a:t>
            </a:r>
            <a:r>
              <a:rPr dirty="0" sz="950" spc="-20">
                <a:latin typeface="Arial MT"/>
                <a:cs typeface="Arial MT"/>
              </a:rPr>
              <a:t>Cost</a:t>
            </a:r>
            <a:endParaRPr sz="950">
              <a:latin typeface="Arial MT"/>
              <a:cs typeface="Arial MT"/>
            </a:endParaRPr>
          </a:p>
          <a:p>
            <a:pPr marL="296545" indent="-163830">
              <a:lnSpc>
                <a:spcPct val="100000"/>
              </a:lnSpc>
              <a:spcBef>
                <a:spcPts val="715"/>
              </a:spcBef>
              <a:buClr>
                <a:srgbClr val="4F596B"/>
              </a:buClr>
              <a:buChar char="•"/>
              <a:tabLst>
                <a:tab pos="296545" algn="l"/>
              </a:tabLst>
            </a:pPr>
            <a:r>
              <a:rPr dirty="0" sz="950">
                <a:latin typeface="Arial MT"/>
                <a:cs typeface="Arial MT"/>
              </a:rPr>
              <a:t>Revenue</a:t>
            </a:r>
            <a:r>
              <a:rPr dirty="0" sz="950" spc="23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per</a:t>
            </a:r>
            <a:r>
              <a:rPr dirty="0" sz="950" spc="7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Charging</a:t>
            </a:r>
            <a:r>
              <a:rPr dirty="0" sz="950" spc="310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Station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4"/>
              </a:spcBef>
              <a:buFont typeface="Arial MT"/>
              <a:buChar char="•"/>
            </a:pPr>
            <a:endParaRPr sz="950">
              <a:latin typeface="Arial MT"/>
              <a:cs typeface="Arial MT"/>
            </a:endParaRPr>
          </a:p>
          <a:p>
            <a:pPr marL="20955">
              <a:lnSpc>
                <a:spcPct val="100000"/>
              </a:lnSpc>
            </a:pPr>
            <a:r>
              <a:rPr dirty="0" u="sng" sz="900" spc="-10">
                <a:uFill>
                  <a:solidFill>
                    <a:srgbClr val="4F576B"/>
                  </a:solidFill>
                </a:uFill>
                <a:latin typeface="Arial MT"/>
                <a:cs typeface="Arial MT"/>
              </a:rPr>
              <a:t>Visuals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900">
              <a:latin typeface="Arial MT"/>
              <a:cs typeface="Arial MT"/>
            </a:endParaRPr>
          </a:p>
          <a:p>
            <a:pPr marL="295910" indent="-163195">
              <a:lnSpc>
                <a:spcPct val="100000"/>
              </a:lnSpc>
              <a:buClr>
                <a:srgbClr val="697282"/>
              </a:buClr>
              <a:buChar char="•"/>
              <a:tabLst>
                <a:tab pos="295910" algn="l"/>
              </a:tabLst>
            </a:pPr>
            <a:r>
              <a:rPr dirty="0" sz="1000" spc="-10">
                <a:latin typeface="Arial MT"/>
                <a:cs typeface="Arial MT"/>
              </a:rPr>
              <a:t>Revenue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by</a:t>
            </a:r>
            <a:r>
              <a:rPr dirty="0" sz="1000" spc="-10">
                <a:latin typeface="Arial MT"/>
                <a:cs typeface="Arial MT"/>
              </a:rPr>
              <a:t> district</a:t>
            </a:r>
            <a:endParaRPr sz="1000">
              <a:latin typeface="Arial MT"/>
              <a:cs typeface="Arial MT"/>
            </a:endParaRPr>
          </a:p>
          <a:p>
            <a:pPr marL="295910" indent="-163195">
              <a:lnSpc>
                <a:spcPct val="100000"/>
              </a:lnSpc>
              <a:spcBef>
                <a:spcPts val="725"/>
              </a:spcBef>
              <a:buClr>
                <a:srgbClr val="4F596B"/>
              </a:buClr>
              <a:buChar char="•"/>
              <a:tabLst>
                <a:tab pos="295910" algn="l"/>
              </a:tabLst>
            </a:pPr>
            <a:r>
              <a:rPr dirty="0" sz="1000" spc="-10">
                <a:latin typeface="Arial MT"/>
                <a:cs typeface="Arial MT"/>
              </a:rPr>
              <a:t>Revenue</a:t>
            </a:r>
            <a:r>
              <a:rPr dirty="0" sz="1000" spc="6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by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income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tier</a:t>
            </a:r>
            <a:endParaRPr sz="1000">
              <a:latin typeface="Arial MT"/>
              <a:cs typeface="Arial MT"/>
            </a:endParaRPr>
          </a:p>
          <a:p>
            <a:pPr marL="295910" indent="-163195">
              <a:lnSpc>
                <a:spcPct val="100000"/>
              </a:lnSpc>
              <a:spcBef>
                <a:spcPts val="720"/>
              </a:spcBef>
              <a:buClr>
                <a:srgbClr val="4F596B"/>
              </a:buClr>
              <a:buChar char="•"/>
              <a:tabLst>
                <a:tab pos="295910" algn="l"/>
              </a:tabLst>
            </a:pPr>
            <a:r>
              <a:rPr dirty="0" sz="1000">
                <a:latin typeface="Arial MT"/>
                <a:cs typeface="Arial MT"/>
              </a:rPr>
              <a:t>Projected</a:t>
            </a:r>
            <a:r>
              <a:rPr dirty="0" sz="1000" spc="10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EVs</a:t>
            </a:r>
            <a:r>
              <a:rPr dirty="0" sz="1000" spc="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vs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available</a:t>
            </a:r>
            <a:r>
              <a:rPr dirty="0" sz="1000" spc="6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plugs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(gap </a:t>
            </a:r>
            <a:r>
              <a:rPr dirty="0" sz="1000" spc="-10">
                <a:latin typeface="Arial MT"/>
                <a:cs typeface="Arial MT"/>
              </a:rPr>
              <a:t>analysis)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Font typeface="Arial MT"/>
              <a:buChar char="•"/>
            </a:pPr>
            <a:endParaRPr sz="1000">
              <a:latin typeface="Arial MT"/>
              <a:cs typeface="Arial MT"/>
            </a:endParaRPr>
          </a:p>
          <a:p>
            <a:pPr marL="24765">
              <a:lnSpc>
                <a:spcPct val="100000"/>
              </a:lnSpc>
              <a:spcBef>
                <a:spcPts val="5"/>
              </a:spcBef>
            </a:pPr>
            <a:r>
              <a:rPr dirty="0" sz="1250">
                <a:latin typeface="Arial MT"/>
                <a:cs typeface="Arial MT"/>
              </a:rPr>
              <a:t>g</a:t>
            </a:r>
            <a:r>
              <a:rPr dirty="0" sz="1250" spc="95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Filters</a:t>
            </a:r>
            <a:r>
              <a:rPr dirty="0" sz="1250" spc="50">
                <a:latin typeface="Arial MT"/>
                <a:cs typeface="Arial MT"/>
              </a:rPr>
              <a:t> </a:t>
            </a:r>
            <a:r>
              <a:rPr dirty="0" sz="1250">
                <a:latin typeface="Arial MT"/>
                <a:cs typeface="Arial MT"/>
              </a:rPr>
              <a:t>(All</a:t>
            </a:r>
            <a:r>
              <a:rPr dirty="0" sz="1250" spc="100">
                <a:latin typeface="Arial MT"/>
                <a:cs typeface="Arial MT"/>
              </a:rPr>
              <a:t> </a:t>
            </a:r>
            <a:r>
              <a:rPr dirty="0" sz="1250" spc="-10">
                <a:latin typeface="Arial MT"/>
                <a:cs typeface="Arial MT"/>
              </a:rPr>
              <a:t>Pages)</a:t>
            </a:r>
            <a:endParaRPr sz="1250">
              <a:latin typeface="Arial MT"/>
              <a:cs typeface="Arial MT"/>
            </a:endParaRPr>
          </a:p>
          <a:p>
            <a:pPr marL="296545" indent="-163830">
              <a:lnSpc>
                <a:spcPct val="100000"/>
              </a:lnSpc>
              <a:spcBef>
                <a:spcPts val="1120"/>
              </a:spcBef>
              <a:buClr>
                <a:srgbClr val="4F596B"/>
              </a:buClr>
              <a:buChar char="•"/>
              <a:tabLst>
                <a:tab pos="296545" algn="l"/>
              </a:tabLst>
            </a:pPr>
            <a:r>
              <a:rPr dirty="0" sz="950" spc="-10">
                <a:latin typeface="Arial MT"/>
                <a:cs typeface="Arial MT"/>
              </a:rPr>
              <a:t>District</a:t>
            </a:r>
            <a:endParaRPr sz="950">
              <a:latin typeface="Arial MT"/>
              <a:cs typeface="Arial MT"/>
            </a:endParaRPr>
          </a:p>
          <a:p>
            <a:pPr marL="295275" indent="-162560">
              <a:lnSpc>
                <a:spcPct val="100000"/>
              </a:lnSpc>
              <a:spcBef>
                <a:spcPts val="785"/>
              </a:spcBef>
              <a:buClr>
                <a:srgbClr val="4F596B"/>
              </a:buClr>
              <a:buChar char="•"/>
              <a:tabLst>
                <a:tab pos="295275" algn="l"/>
              </a:tabLst>
            </a:pPr>
            <a:r>
              <a:rPr dirty="0" sz="950">
                <a:latin typeface="Arial MT"/>
                <a:cs typeface="Arial MT"/>
              </a:rPr>
              <a:t>Income</a:t>
            </a:r>
            <a:r>
              <a:rPr dirty="0" sz="950" spc="310">
                <a:latin typeface="Arial MT"/>
                <a:cs typeface="Arial MT"/>
              </a:rPr>
              <a:t> </a:t>
            </a:r>
            <a:r>
              <a:rPr dirty="0" sz="950" spc="-20">
                <a:latin typeface="Arial MT"/>
                <a:cs typeface="Arial MT"/>
              </a:rPr>
              <a:t>Tier</a:t>
            </a:r>
            <a:endParaRPr sz="950">
              <a:latin typeface="Arial MT"/>
              <a:cs typeface="Arial MT"/>
            </a:endParaRPr>
          </a:p>
          <a:p>
            <a:pPr marL="300355" indent="-167640">
              <a:lnSpc>
                <a:spcPct val="100000"/>
              </a:lnSpc>
              <a:spcBef>
                <a:spcPts val="715"/>
              </a:spcBef>
              <a:buClr>
                <a:srgbClr val="4F596B"/>
              </a:buClr>
              <a:buChar char="•"/>
              <a:tabLst>
                <a:tab pos="300355" algn="l"/>
              </a:tabLst>
            </a:pPr>
            <a:r>
              <a:rPr dirty="0" sz="950">
                <a:latin typeface="Arial MT"/>
                <a:cs typeface="Arial MT"/>
              </a:rPr>
              <a:t>Charg</a:t>
            </a:r>
            <a:r>
              <a:rPr dirty="0" sz="950" spc="-1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ing</a:t>
            </a:r>
            <a:r>
              <a:rPr dirty="0" sz="950" spc="22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Station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4908" y="3740391"/>
            <a:ext cx="2899410" cy="2876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00" spc="65">
                <a:latin typeface="Arial MT"/>
                <a:cs typeface="Arial MT"/>
              </a:rPr>
              <a:t>@</a:t>
            </a:r>
            <a:r>
              <a:rPr dirty="0" sz="1700" spc="480"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3497DB"/>
                </a:solidFill>
                <a:latin typeface="Arial MT"/>
                <a:cs typeface="Arial MT"/>
              </a:rPr>
              <a:t>Part</a:t>
            </a:r>
            <a:r>
              <a:rPr dirty="0" sz="1700" spc="120">
                <a:solidFill>
                  <a:srgbClr val="3497DB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3497DB"/>
                </a:solidFill>
                <a:latin typeface="Arial MT"/>
                <a:cs typeface="Arial MT"/>
              </a:rPr>
              <a:t>3:</a:t>
            </a:r>
            <a:r>
              <a:rPr dirty="0" sz="1700" spc="45">
                <a:solidFill>
                  <a:srgbClr val="3497DB"/>
                </a:solidFill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Machine</a:t>
            </a:r>
            <a:r>
              <a:rPr dirty="0" sz="1700" spc="15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Learning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1452" y="4036614"/>
            <a:ext cx="7409815" cy="286893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95910" indent="-163830">
              <a:lnSpc>
                <a:spcPct val="100000"/>
              </a:lnSpc>
              <a:spcBef>
                <a:spcPts val="775"/>
              </a:spcBef>
              <a:buClr>
                <a:srgbClr val="4F596B"/>
              </a:buClr>
              <a:buChar char="•"/>
              <a:tabLst>
                <a:tab pos="295910" algn="l"/>
              </a:tabLst>
            </a:pPr>
            <a:r>
              <a:rPr dirty="0" sz="1050" spc="-10">
                <a:latin typeface="Arial MT"/>
                <a:cs typeface="Arial MT"/>
              </a:rPr>
              <a:t>Forecasting:</a:t>
            </a:r>
            <a:r>
              <a:rPr dirty="0" sz="1050" spc="25">
                <a:latin typeface="Arial MT"/>
                <a:cs typeface="Arial MT"/>
              </a:rPr>
              <a:t> </a:t>
            </a:r>
            <a:r>
              <a:rPr dirty="0" sz="1050" spc="-65">
                <a:solidFill>
                  <a:srgbClr val="56B6FF"/>
                </a:solidFill>
                <a:latin typeface="Arial MT"/>
                <a:cs typeface="Arial MT"/>
              </a:rPr>
              <a:t>Build</a:t>
            </a:r>
            <a:r>
              <a:rPr dirty="0" sz="1050" spc="-5">
                <a:solidFill>
                  <a:srgbClr val="56B6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56B6FF"/>
                </a:solidFill>
                <a:latin typeface="Arial MT"/>
                <a:cs typeface="Arial MT"/>
              </a:rPr>
              <a:t>a</a:t>
            </a:r>
            <a:r>
              <a:rPr dirty="0" sz="1050" spc="-10">
                <a:solidFill>
                  <a:srgbClr val="56B6FF"/>
                </a:solidFill>
                <a:latin typeface="Arial MT"/>
                <a:cs typeface="Arial MT"/>
              </a:rPr>
              <a:t> </a:t>
            </a:r>
            <a:r>
              <a:rPr dirty="0" sz="1050" spc="-70">
                <a:solidFill>
                  <a:srgbClr val="56B6FF"/>
                </a:solidFill>
                <a:latin typeface="Arial MT"/>
                <a:cs typeface="Arial MT"/>
              </a:rPr>
              <a:t>model</a:t>
            </a:r>
            <a:r>
              <a:rPr dirty="0" sz="1050" spc="-5">
                <a:solidFill>
                  <a:srgbClr val="56B6FF"/>
                </a:solidFill>
                <a:latin typeface="Arial MT"/>
                <a:cs typeface="Arial MT"/>
              </a:rPr>
              <a:t> </a:t>
            </a:r>
            <a:r>
              <a:rPr dirty="0" sz="1050" spc="-30">
                <a:solidFill>
                  <a:srgbClr val="B65600"/>
                </a:solidFill>
                <a:latin typeface="Arial MT"/>
                <a:cs typeface="Arial MT"/>
              </a:rPr>
              <a:t>to</a:t>
            </a:r>
            <a:r>
              <a:rPr dirty="0" sz="1050" spc="5">
                <a:solidFill>
                  <a:srgbClr val="B65600"/>
                </a:solidFill>
                <a:latin typeface="Arial MT"/>
                <a:cs typeface="Arial MT"/>
              </a:rPr>
              <a:t> </a:t>
            </a:r>
            <a:r>
              <a:rPr dirty="0" sz="1050" spc="-50">
                <a:solidFill>
                  <a:srgbClr val="0056B6"/>
                </a:solidFill>
                <a:latin typeface="Arial MT"/>
                <a:cs typeface="Arial MT"/>
              </a:rPr>
              <a:t>predict</a:t>
            </a:r>
            <a:r>
              <a:rPr dirty="0" sz="1050" spc="5">
                <a:solidFill>
                  <a:srgbClr val="0056B6"/>
                </a:solidFill>
                <a:latin typeface="Arial MT"/>
                <a:cs typeface="Arial MT"/>
              </a:rPr>
              <a:t> </a:t>
            </a:r>
            <a:r>
              <a:rPr dirty="0" sz="1050" spc="-55">
                <a:solidFill>
                  <a:srgbClr val="56B6FF"/>
                </a:solidFill>
                <a:latin typeface="Arial MT"/>
                <a:cs typeface="Arial MT"/>
              </a:rPr>
              <a:t>future</a:t>
            </a:r>
            <a:r>
              <a:rPr dirty="0" sz="1050" spc="-10">
                <a:solidFill>
                  <a:srgbClr val="56B6FF"/>
                </a:solidFill>
                <a:latin typeface="Arial MT"/>
                <a:cs typeface="Arial MT"/>
              </a:rPr>
              <a:t> </a:t>
            </a:r>
            <a:r>
              <a:rPr dirty="0" sz="1050" spc="-45">
                <a:solidFill>
                  <a:srgbClr val="0056B6"/>
                </a:solidFill>
                <a:latin typeface="Arial MT"/>
                <a:cs typeface="Arial MT"/>
              </a:rPr>
              <a:t>charging</a:t>
            </a:r>
            <a:r>
              <a:rPr dirty="0" sz="1050" spc="55">
                <a:solidFill>
                  <a:srgbClr val="0056B6"/>
                </a:solidFill>
                <a:latin typeface="Arial MT"/>
                <a:cs typeface="Arial MT"/>
              </a:rPr>
              <a:t> </a:t>
            </a:r>
            <a:r>
              <a:rPr dirty="0" sz="1050" spc="-80">
                <a:solidFill>
                  <a:srgbClr val="00268E"/>
                </a:solidFill>
                <a:latin typeface="Arial MT"/>
                <a:cs typeface="Arial MT"/>
              </a:rPr>
              <a:t>demand</a:t>
            </a:r>
            <a:r>
              <a:rPr dirty="0" sz="1050" spc="20">
                <a:solidFill>
                  <a:srgbClr val="00268E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56B6FF"/>
                </a:solidFill>
                <a:latin typeface="Arial MT"/>
                <a:cs typeface="Arial MT"/>
              </a:rPr>
              <a:t>to</a:t>
            </a:r>
            <a:r>
              <a:rPr dirty="0" sz="1050" spc="35">
                <a:solidFill>
                  <a:srgbClr val="56B6FF"/>
                </a:solidFill>
                <a:latin typeface="Arial MT"/>
                <a:cs typeface="Arial MT"/>
              </a:rPr>
              <a:t> </a:t>
            </a:r>
            <a:r>
              <a:rPr dirty="0" sz="1050" spc="-55">
                <a:solidFill>
                  <a:srgbClr val="B65600"/>
                </a:solidFill>
                <a:latin typeface="Arial MT"/>
                <a:cs typeface="Arial MT"/>
              </a:rPr>
              <a:t>assist</a:t>
            </a:r>
            <a:r>
              <a:rPr dirty="0" sz="1050" spc="-10">
                <a:solidFill>
                  <a:srgbClr val="B65600"/>
                </a:solidFill>
                <a:latin typeface="Arial MT"/>
                <a:cs typeface="Arial MT"/>
              </a:rPr>
              <a:t> </a:t>
            </a:r>
            <a:r>
              <a:rPr dirty="0" sz="1050" spc="-55">
                <a:solidFill>
                  <a:srgbClr val="260026"/>
                </a:solidFill>
                <a:latin typeface="Arial MT"/>
                <a:cs typeface="Arial MT"/>
              </a:rPr>
              <a:t>in</a:t>
            </a:r>
            <a:r>
              <a:rPr dirty="0" sz="1050" spc="-15">
                <a:solidFill>
                  <a:srgbClr val="260026"/>
                </a:solidFill>
                <a:latin typeface="Arial MT"/>
                <a:cs typeface="Arial MT"/>
              </a:rPr>
              <a:t> </a:t>
            </a:r>
            <a:r>
              <a:rPr dirty="0" sz="1050" spc="-50">
                <a:solidFill>
                  <a:srgbClr val="56B6FF"/>
                </a:solidFill>
                <a:latin typeface="Arial MT"/>
                <a:cs typeface="Arial MT"/>
              </a:rPr>
              <a:t>infrastructure</a:t>
            </a:r>
            <a:r>
              <a:rPr dirty="0" sz="1050" spc="-20">
                <a:solidFill>
                  <a:srgbClr val="56B6FF"/>
                </a:solidFill>
                <a:latin typeface="Arial MT"/>
                <a:cs typeface="Arial MT"/>
              </a:rPr>
              <a:t> </a:t>
            </a:r>
            <a:r>
              <a:rPr dirty="0" sz="1050" spc="-55">
                <a:latin typeface="Arial MT"/>
                <a:cs typeface="Arial MT"/>
              </a:rPr>
              <a:t>planning</a:t>
            </a:r>
            <a:r>
              <a:rPr dirty="0" sz="1050">
                <a:latin typeface="Arial MT"/>
                <a:cs typeface="Arial MT"/>
              </a:rPr>
              <a:t> </a:t>
            </a:r>
            <a:r>
              <a:rPr dirty="0" sz="1050" spc="-60">
                <a:solidFill>
                  <a:srgbClr val="56B6FF"/>
                </a:solidFill>
                <a:latin typeface="Arial MT"/>
                <a:cs typeface="Arial MT"/>
              </a:rPr>
              <a:t>and</a:t>
            </a:r>
            <a:r>
              <a:rPr dirty="0" sz="1050" spc="-10">
                <a:solidFill>
                  <a:srgbClr val="56B6FF"/>
                </a:solidFill>
                <a:latin typeface="Arial MT"/>
                <a:cs typeface="Arial MT"/>
              </a:rPr>
              <a:t> </a:t>
            </a:r>
            <a:r>
              <a:rPr dirty="0" sz="1050" spc="-60">
                <a:solidFill>
                  <a:srgbClr val="00268E"/>
                </a:solidFill>
                <a:latin typeface="Arial MT"/>
                <a:cs typeface="Arial MT"/>
              </a:rPr>
              <a:t>resource</a:t>
            </a:r>
            <a:r>
              <a:rPr dirty="0" sz="1050" spc="45">
                <a:solidFill>
                  <a:srgbClr val="00268E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allocation</a:t>
            </a:r>
            <a:endParaRPr sz="1050">
              <a:latin typeface="Arial MT"/>
              <a:cs typeface="Arial MT"/>
            </a:endParaRPr>
          </a:p>
          <a:p>
            <a:pPr marL="295910" indent="-163830">
              <a:lnSpc>
                <a:spcPct val="100000"/>
              </a:lnSpc>
              <a:spcBef>
                <a:spcPts val="675"/>
              </a:spcBef>
              <a:buClr>
                <a:srgbClr val="4F596B"/>
              </a:buClr>
              <a:buChar char="•"/>
              <a:tabLst>
                <a:tab pos="295910" algn="l"/>
              </a:tabLst>
            </a:pPr>
            <a:r>
              <a:rPr dirty="0" sz="1050" spc="-10">
                <a:latin typeface="Arial MT"/>
                <a:cs typeface="Arial MT"/>
              </a:rPr>
              <a:t>Regression: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 spc="-55">
                <a:solidFill>
                  <a:srgbClr val="0056B6"/>
                </a:solidFill>
                <a:latin typeface="Arial MT"/>
                <a:cs typeface="Arial MT"/>
              </a:rPr>
              <a:t>Predict</a:t>
            </a:r>
            <a:r>
              <a:rPr dirty="0" sz="1050" spc="-15">
                <a:solidFill>
                  <a:srgbClr val="0056B6"/>
                </a:solidFill>
                <a:latin typeface="Arial MT"/>
                <a:cs typeface="Arial MT"/>
              </a:rPr>
              <a:t> </a:t>
            </a:r>
            <a:r>
              <a:rPr dirty="0" sz="1050" spc="-50">
                <a:solidFill>
                  <a:srgbClr val="56B6FF"/>
                </a:solidFill>
                <a:latin typeface="Arial MT"/>
                <a:cs typeface="Arial MT"/>
              </a:rPr>
              <a:t>the</a:t>
            </a:r>
            <a:r>
              <a:rPr dirty="0" sz="1050" spc="-20">
                <a:solidFill>
                  <a:srgbClr val="56B6FF"/>
                </a:solidFill>
                <a:latin typeface="Arial MT"/>
                <a:cs typeface="Arial MT"/>
              </a:rPr>
              <a:t> </a:t>
            </a:r>
            <a:r>
              <a:rPr dirty="0" sz="1050" spc="-40">
                <a:solidFill>
                  <a:srgbClr val="56B6FF"/>
                </a:solidFill>
                <a:latin typeface="Arial MT"/>
                <a:cs typeface="Arial MT"/>
              </a:rPr>
              <a:t>total</a:t>
            </a:r>
            <a:r>
              <a:rPr dirty="0" sz="1050" spc="-35">
                <a:solidFill>
                  <a:srgbClr val="56B6FF"/>
                </a:solidFill>
                <a:latin typeface="Arial MT"/>
                <a:cs typeface="Arial MT"/>
              </a:rPr>
              <a:t> </a:t>
            </a:r>
            <a:r>
              <a:rPr dirty="0" sz="1050" spc="-60">
                <a:solidFill>
                  <a:srgbClr val="B65600"/>
                </a:solidFill>
                <a:latin typeface="Arial MT"/>
                <a:cs typeface="Arial MT"/>
              </a:rPr>
              <a:t>cost</a:t>
            </a:r>
            <a:r>
              <a:rPr dirty="0" sz="1050" spc="-25">
                <a:solidFill>
                  <a:srgbClr val="B65600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0056B6"/>
                </a:solidFill>
                <a:latin typeface="Arial MT"/>
                <a:cs typeface="Arial MT"/>
              </a:rPr>
              <a:t>of</a:t>
            </a:r>
            <a:r>
              <a:rPr dirty="0" sz="1050" spc="-75">
                <a:solidFill>
                  <a:srgbClr val="0056B6"/>
                </a:solidFill>
                <a:latin typeface="Arial MT"/>
                <a:cs typeface="Arial MT"/>
              </a:rPr>
              <a:t> </a:t>
            </a:r>
            <a:r>
              <a:rPr dirty="0" sz="1050" spc="-145">
                <a:solidFill>
                  <a:srgbClr val="0056B6"/>
                </a:solidFill>
                <a:latin typeface="Arial MT"/>
                <a:cs typeface="Arial MT"/>
              </a:rPr>
              <a:t>a</a:t>
            </a:r>
            <a:r>
              <a:rPr dirty="0" sz="1050" spc="-20">
                <a:solidFill>
                  <a:srgbClr val="0056B6"/>
                </a:solidFill>
                <a:latin typeface="Arial MT"/>
                <a:cs typeface="Arial MT"/>
              </a:rPr>
              <a:t> </a:t>
            </a:r>
            <a:r>
              <a:rPr dirty="0" sz="1050" spc="-45">
                <a:solidFill>
                  <a:srgbClr val="0056B6"/>
                </a:solidFill>
                <a:latin typeface="Arial MT"/>
                <a:cs typeface="Arial MT"/>
              </a:rPr>
              <a:t>charging</a:t>
            </a:r>
            <a:r>
              <a:rPr dirty="0" sz="1050" spc="30">
                <a:solidFill>
                  <a:srgbClr val="0056B6"/>
                </a:solidFill>
                <a:latin typeface="Arial MT"/>
                <a:cs typeface="Arial MT"/>
              </a:rPr>
              <a:t> </a:t>
            </a:r>
            <a:r>
              <a:rPr dirty="0" sz="1050" spc="-55">
                <a:solidFill>
                  <a:srgbClr val="56B6FF"/>
                </a:solidFill>
                <a:latin typeface="Arial MT"/>
                <a:cs typeface="Arial MT"/>
              </a:rPr>
              <a:t>session</a:t>
            </a:r>
            <a:r>
              <a:rPr dirty="0" sz="1050" spc="30">
                <a:solidFill>
                  <a:srgbClr val="56B6FF"/>
                </a:solidFill>
                <a:latin typeface="Arial MT"/>
                <a:cs typeface="Arial MT"/>
              </a:rPr>
              <a:t> </a:t>
            </a:r>
            <a:r>
              <a:rPr dirty="0" sz="1050" spc="-60">
                <a:solidFill>
                  <a:srgbClr val="260000"/>
                </a:solidFill>
                <a:latin typeface="Arial MT"/>
                <a:cs typeface="Arial MT"/>
              </a:rPr>
              <a:t>based</a:t>
            </a:r>
            <a:r>
              <a:rPr dirty="0" sz="1050" spc="20">
                <a:solidFill>
                  <a:srgbClr val="260000"/>
                </a:solidFill>
                <a:latin typeface="Arial MT"/>
                <a:cs typeface="Arial MT"/>
              </a:rPr>
              <a:t> </a:t>
            </a:r>
            <a:r>
              <a:rPr dirty="0" sz="1050" spc="-95">
                <a:solidFill>
                  <a:srgbClr val="8E2600"/>
                </a:solidFill>
                <a:latin typeface="Arial MT"/>
                <a:cs typeface="Arial MT"/>
              </a:rPr>
              <a:t>on</a:t>
            </a:r>
            <a:r>
              <a:rPr dirty="0" sz="1050" spc="-10">
                <a:solidFill>
                  <a:srgbClr val="8E2600"/>
                </a:solidFill>
                <a:latin typeface="Arial MT"/>
                <a:cs typeface="Arial MT"/>
              </a:rPr>
              <a:t> </a:t>
            </a:r>
            <a:r>
              <a:rPr dirty="0" sz="1050" spc="-40">
                <a:solidFill>
                  <a:srgbClr val="268EDF"/>
                </a:solidFill>
                <a:latin typeface="Arial MT"/>
                <a:cs typeface="Arial MT"/>
              </a:rPr>
              <a:t>factors</a:t>
            </a:r>
            <a:r>
              <a:rPr dirty="0" sz="1050" spc="-25">
                <a:solidFill>
                  <a:srgbClr val="268EDF"/>
                </a:solidFill>
                <a:latin typeface="Arial MT"/>
                <a:cs typeface="Arial MT"/>
              </a:rPr>
              <a:t> </a:t>
            </a:r>
            <a:r>
              <a:rPr dirty="0" sz="1050" spc="-45">
                <a:solidFill>
                  <a:srgbClr val="0056B6"/>
                </a:solidFill>
                <a:latin typeface="Arial MT"/>
                <a:cs typeface="Arial MT"/>
              </a:rPr>
              <a:t>like</a:t>
            </a:r>
            <a:r>
              <a:rPr dirty="0" sz="1050" spc="-15">
                <a:solidFill>
                  <a:srgbClr val="0056B6"/>
                </a:solidFill>
                <a:latin typeface="Arial MT"/>
                <a:cs typeface="Arial MT"/>
              </a:rPr>
              <a:t> </a:t>
            </a:r>
            <a:r>
              <a:rPr dirty="0" sz="1050" spc="-40">
                <a:solidFill>
                  <a:srgbClr val="B65600"/>
                </a:solidFill>
                <a:latin typeface="Arial MT"/>
                <a:cs typeface="Arial MT"/>
              </a:rPr>
              <a:t>time</a:t>
            </a:r>
            <a:r>
              <a:rPr dirty="0" sz="1050" spc="40">
                <a:solidFill>
                  <a:srgbClr val="B65600"/>
                </a:solidFill>
                <a:latin typeface="Arial MT"/>
                <a:cs typeface="Arial MT"/>
              </a:rPr>
              <a:t> </a:t>
            </a:r>
            <a:r>
              <a:rPr dirty="0" sz="1050" spc="-45">
                <a:solidFill>
                  <a:srgbClr val="8E2600"/>
                </a:solidFill>
                <a:latin typeface="Arial MT"/>
                <a:cs typeface="Arial MT"/>
              </a:rPr>
              <a:t>of</a:t>
            </a:r>
            <a:r>
              <a:rPr dirty="0" sz="1050" spc="-30">
                <a:solidFill>
                  <a:srgbClr val="8E2600"/>
                </a:solidFill>
                <a:latin typeface="Arial MT"/>
                <a:cs typeface="Arial MT"/>
              </a:rPr>
              <a:t> </a:t>
            </a:r>
            <a:r>
              <a:rPr dirty="0" sz="1050" spc="-85">
                <a:solidFill>
                  <a:srgbClr val="00268E"/>
                </a:solidFill>
                <a:latin typeface="Arial MT"/>
                <a:cs typeface="Arial MT"/>
              </a:rPr>
              <a:t>day,</a:t>
            </a:r>
            <a:r>
              <a:rPr dirty="0" sz="1050" spc="5">
                <a:solidFill>
                  <a:srgbClr val="00268E"/>
                </a:solidFill>
                <a:latin typeface="Arial MT"/>
                <a:cs typeface="Arial MT"/>
              </a:rPr>
              <a:t> </a:t>
            </a:r>
            <a:r>
              <a:rPr dirty="0" sz="1050" spc="-40">
                <a:solidFill>
                  <a:srgbClr val="0056B6"/>
                </a:solidFill>
                <a:latin typeface="Arial MT"/>
                <a:cs typeface="Arial MT"/>
              </a:rPr>
              <a:t>location,</a:t>
            </a:r>
            <a:r>
              <a:rPr dirty="0" sz="1050" spc="45">
                <a:solidFill>
                  <a:srgbClr val="0056B6"/>
                </a:solidFill>
                <a:latin typeface="Arial MT"/>
                <a:cs typeface="Arial MT"/>
              </a:rPr>
              <a:t> </a:t>
            </a:r>
            <a:r>
              <a:rPr dirty="0" sz="1050" spc="-95">
                <a:solidFill>
                  <a:srgbClr val="0056B6"/>
                </a:solidFill>
                <a:latin typeface="Arial MT"/>
                <a:cs typeface="Arial MT"/>
              </a:rPr>
              <a:t>and</a:t>
            </a:r>
            <a:r>
              <a:rPr dirty="0" sz="1050" spc="-20">
                <a:solidFill>
                  <a:srgbClr val="0056B6"/>
                </a:solidFill>
                <a:latin typeface="Arial MT"/>
                <a:cs typeface="Arial MT"/>
              </a:rPr>
              <a:t> </a:t>
            </a:r>
            <a:r>
              <a:rPr dirty="0" sz="1050" spc="-40">
                <a:solidFill>
                  <a:srgbClr val="0056B6"/>
                </a:solidFill>
                <a:latin typeface="Arial MT"/>
                <a:cs typeface="Arial MT"/>
              </a:rPr>
              <a:t>energy</a:t>
            </a:r>
            <a:r>
              <a:rPr dirty="0" sz="1050" spc="35">
                <a:solidFill>
                  <a:srgbClr val="0056B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560000"/>
                </a:solidFill>
                <a:latin typeface="Arial MT"/>
                <a:cs typeface="Arial MT"/>
              </a:rPr>
              <a:t>consumed</a:t>
            </a:r>
            <a:endParaRPr sz="1050">
              <a:latin typeface="Arial MT"/>
              <a:cs typeface="Arial MT"/>
            </a:endParaRPr>
          </a:p>
          <a:p>
            <a:pPr marL="134620" marR="5080" indent="-2540">
              <a:lnSpc>
                <a:spcPct val="117000"/>
              </a:lnSpc>
              <a:spcBef>
                <a:spcPts val="525"/>
              </a:spcBef>
              <a:buClr>
                <a:srgbClr val="697282"/>
              </a:buClr>
              <a:buChar char="•"/>
              <a:tabLst>
                <a:tab pos="134620" algn="l"/>
                <a:tab pos="300990" algn="l"/>
              </a:tabLst>
            </a:pPr>
            <a:r>
              <a:rPr dirty="0" sz="1000">
                <a:latin typeface="Arial MT"/>
                <a:cs typeface="Arial MT"/>
              </a:rPr>
              <a:t>	</a:t>
            </a:r>
            <a:r>
              <a:rPr dirty="0" sz="1000">
                <a:latin typeface="Arial MT"/>
                <a:cs typeface="Arial MT"/>
              </a:rPr>
              <a:t>Clustering: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 spc="-35">
                <a:solidFill>
                  <a:srgbClr val="0056B6"/>
                </a:solidFill>
                <a:latin typeface="Arial MT"/>
                <a:cs typeface="Arial MT"/>
              </a:rPr>
              <a:t>Segment</a:t>
            </a:r>
            <a:r>
              <a:rPr dirty="0" sz="1000" spc="45">
                <a:solidFill>
                  <a:srgbClr val="0056B6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268EDF"/>
                </a:solidFill>
                <a:latin typeface="Arial MT"/>
                <a:cs typeface="Arial MT"/>
              </a:rPr>
              <a:t>customers</a:t>
            </a:r>
            <a:r>
              <a:rPr dirty="0" sz="1000" spc="10">
                <a:solidFill>
                  <a:srgbClr val="268ED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56B6FF"/>
                </a:solidFill>
                <a:latin typeface="Arial MT"/>
                <a:cs typeface="Arial MT"/>
              </a:rPr>
              <a:t>into</a:t>
            </a:r>
            <a:r>
              <a:rPr dirty="0" sz="1000" spc="-30">
                <a:solidFill>
                  <a:srgbClr val="56B6FF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260056"/>
                </a:solidFill>
                <a:latin typeface="Arial MT"/>
                <a:cs typeface="Arial MT"/>
              </a:rPr>
              <a:t>groups</a:t>
            </a:r>
            <a:r>
              <a:rPr dirty="0" sz="1000" spc="-20">
                <a:solidFill>
                  <a:srgbClr val="260056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based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68EDF"/>
                </a:solidFill>
                <a:latin typeface="Arial MT"/>
                <a:cs typeface="Arial MT"/>
              </a:rPr>
              <a:t>on</a:t>
            </a:r>
            <a:r>
              <a:rPr dirty="0" sz="1000" spc="-40">
                <a:solidFill>
                  <a:srgbClr val="268ED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560000"/>
                </a:solidFill>
                <a:latin typeface="Arial MT"/>
                <a:cs typeface="Arial MT"/>
              </a:rPr>
              <a:t>their</a:t>
            </a:r>
            <a:r>
              <a:rPr dirty="0" sz="1000" spc="-30">
                <a:solidFill>
                  <a:srgbClr val="560000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268EDF"/>
                </a:solidFill>
                <a:latin typeface="Arial MT"/>
                <a:cs typeface="Arial MT"/>
              </a:rPr>
              <a:t>charging</a:t>
            </a:r>
            <a:r>
              <a:rPr dirty="0" sz="1000" spc="15">
                <a:solidFill>
                  <a:srgbClr val="268ED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0056B6"/>
                </a:solidFill>
                <a:latin typeface="Arial MT"/>
                <a:cs typeface="Arial MT"/>
              </a:rPr>
              <a:t>habits</a:t>
            </a:r>
            <a:r>
              <a:rPr dirty="0" sz="1000" spc="-15">
                <a:solidFill>
                  <a:srgbClr val="0056B6"/>
                </a:solidFill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and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patterns,</a:t>
            </a:r>
            <a:r>
              <a:rPr dirty="0" sz="1000" spc="55">
                <a:latin typeface="Arial MT"/>
                <a:cs typeface="Arial MT"/>
              </a:rPr>
              <a:t> </a:t>
            </a:r>
            <a:r>
              <a:rPr dirty="0" sz="1000" spc="-30">
                <a:solidFill>
                  <a:srgbClr val="8E8E26"/>
                </a:solidFill>
                <a:latin typeface="Arial MT"/>
                <a:cs typeface="Arial MT"/>
              </a:rPr>
              <a:t>which</a:t>
            </a:r>
            <a:r>
              <a:rPr dirty="0" sz="1000">
                <a:solidFill>
                  <a:srgbClr val="8E8E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6B6FF"/>
                </a:solidFill>
                <a:latin typeface="Arial MT"/>
                <a:cs typeface="Arial MT"/>
              </a:rPr>
              <a:t>is</a:t>
            </a:r>
            <a:r>
              <a:rPr dirty="0" sz="1000" spc="-5">
                <a:solidFill>
                  <a:srgbClr val="56B6FF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00268E"/>
                </a:solidFill>
                <a:latin typeface="Arial MT"/>
                <a:cs typeface="Arial MT"/>
              </a:rPr>
              <a:t>invaluable</a:t>
            </a:r>
            <a:r>
              <a:rPr dirty="0" sz="1000" spc="45">
                <a:solidFill>
                  <a:srgbClr val="00268E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00268E"/>
                </a:solidFill>
                <a:latin typeface="Arial MT"/>
                <a:cs typeface="Arial MT"/>
              </a:rPr>
              <a:t>for</a:t>
            </a:r>
            <a:r>
              <a:rPr dirty="0" sz="1000" spc="30">
                <a:solidFill>
                  <a:srgbClr val="00268E"/>
                </a:solidFill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targeted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56B6FF"/>
                </a:solidFill>
                <a:latin typeface="Arial MT"/>
                <a:cs typeface="Arial MT"/>
              </a:rPr>
              <a:t>marketing </a:t>
            </a:r>
            <a:r>
              <a:rPr dirty="0" sz="1000">
                <a:solidFill>
                  <a:srgbClr val="0056B6"/>
                </a:solidFill>
                <a:latin typeface="Arial MT"/>
                <a:cs typeface="Arial MT"/>
              </a:rPr>
              <a:t>and</a:t>
            </a:r>
            <a:r>
              <a:rPr dirty="0" sz="1000" spc="-65">
                <a:solidFill>
                  <a:srgbClr val="0056B6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268EDF"/>
                </a:solidFill>
                <a:latin typeface="Arial MT"/>
                <a:cs typeface="Arial MT"/>
              </a:rPr>
              <a:t>service</a:t>
            </a:r>
            <a:r>
              <a:rPr dirty="0" sz="1000">
                <a:solidFill>
                  <a:srgbClr val="268ED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optimization.</a:t>
            </a:r>
            <a:endParaRPr sz="1000">
              <a:latin typeface="Arial MT"/>
              <a:cs typeface="Arial MT"/>
            </a:endParaRPr>
          </a:p>
          <a:p>
            <a:pPr marL="20955">
              <a:lnSpc>
                <a:spcPct val="100000"/>
              </a:lnSpc>
              <a:spcBef>
                <a:spcPts val="1110"/>
              </a:spcBef>
            </a:pPr>
            <a:r>
              <a:rPr dirty="0" sz="1700">
                <a:solidFill>
                  <a:srgbClr val="3497DB"/>
                </a:solidFill>
                <a:latin typeface="Arial MT"/>
                <a:cs typeface="Arial MT"/>
              </a:rPr>
              <a:t>Additional</a:t>
            </a:r>
            <a:r>
              <a:rPr dirty="0" sz="1700" spc="70">
                <a:solidFill>
                  <a:srgbClr val="3497DB"/>
                </a:solidFill>
                <a:latin typeface="Arial MT"/>
                <a:cs typeface="Arial MT"/>
              </a:rPr>
              <a:t>  </a:t>
            </a:r>
            <a:r>
              <a:rPr dirty="0" sz="1700" spc="-10">
                <a:solidFill>
                  <a:srgbClr val="3497DB"/>
                </a:solidFill>
                <a:latin typeface="Arial MT"/>
                <a:cs typeface="Arial MT"/>
              </a:rPr>
              <a:t>Requirements</a:t>
            </a:r>
            <a:endParaRPr sz="1700">
              <a:latin typeface="Arial MT"/>
              <a:cs typeface="Arial MT"/>
            </a:endParaRPr>
          </a:p>
          <a:p>
            <a:pPr marL="22225" marR="3959860">
              <a:lnSpc>
                <a:spcPct val="129000"/>
              </a:lnSpc>
              <a:spcBef>
                <a:spcPts val="655"/>
              </a:spcBef>
            </a:pPr>
            <a:r>
              <a:rPr dirty="0" sz="950">
                <a:solidFill>
                  <a:srgbClr val="16C60C"/>
                </a:solidFill>
                <a:latin typeface="Arial MT"/>
                <a:cs typeface="Arial MT"/>
              </a:rPr>
              <a:t>@</a:t>
            </a:r>
            <a:r>
              <a:rPr dirty="0" sz="950" spc="180">
                <a:solidFill>
                  <a:srgbClr val="16C60C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6B6FF"/>
                </a:solidFill>
                <a:latin typeface="Arial MT"/>
                <a:cs typeface="Arial MT"/>
              </a:rPr>
              <a:t>Each</a:t>
            </a:r>
            <a:r>
              <a:rPr dirty="0" sz="950" spc="-20">
                <a:solidFill>
                  <a:srgbClr val="56B6FF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0056B6"/>
                </a:solidFill>
                <a:latin typeface="Arial MT"/>
                <a:cs typeface="Arial MT"/>
              </a:rPr>
              <a:t>dashDoard</a:t>
            </a:r>
            <a:r>
              <a:rPr dirty="0" sz="950" spc="100">
                <a:solidFill>
                  <a:srgbClr val="0056B6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8E2600"/>
                </a:solidFill>
                <a:latin typeface="Arial MT"/>
                <a:cs typeface="Arial MT"/>
              </a:rPr>
              <a:t>should</a:t>
            </a:r>
            <a:r>
              <a:rPr dirty="0" sz="950" spc="45">
                <a:solidFill>
                  <a:srgbClr val="8E2600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56B6"/>
                </a:solidFill>
                <a:latin typeface="Arial MT"/>
                <a:cs typeface="Arial MT"/>
              </a:rPr>
              <a:t>include</a:t>
            </a:r>
            <a:r>
              <a:rPr dirty="0" sz="950" spc="75">
                <a:solidFill>
                  <a:srgbClr val="0056B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B65600"/>
                </a:solidFill>
                <a:latin typeface="Arial MT"/>
                <a:cs typeface="Arial MT"/>
              </a:rPr>
              <a:t>at</a:t>
            </a:r>
            <a:r>
              <a:rPr dirty="0" sz="950" spc="-5">
                <a:solidFill>
                  <a:srgbClr val="B65600"/>
                </a:solidFill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least</a:t>
            </a:r>
            <a:r>
              <a:rPr dirty="0" sz="950" spc="5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5-6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charts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56B6"/>
                </a:solidFill>
                <a:latin typeface="Arial MT"/>
                <a:cs typeface="Arial MT"/>
              </a:rPr>
              <a:t>per</a:t>
            </a:r>
            <a:r>
              <a:rPr dirty="0" sz="950" spc="-40">
                <a:solidFill>
                  <a:srgbClr val="0056B6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latin typeface="Arial MT"/>
                <a:cs typeface="Arial MT"/>
              </a:rPr>
              <a:t>page </a:t>
            </a:r>
            <a:r>
              <a:rPr dirty="0" sz="950">
                <a:solidFill>
                  <a:srgbClr val="16C60C"/>
                </a:solidFill>
                <a:latin typeface="Arial MT"/>
                <a:cs typeface="Arial MT"/>
              </a:rPr>
              <a:t>@</a:t>
            </a:r>
            <a:r>
              <a:rPr dirty="0" sz="950" spc="210">
                <a:solidFill>
                  <a:srgbClr val="16C60C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6B6FF"/>
                </a:solidFill>
                <a:latin typeface="Arial MT"/>
                <a:cs typeface="Arial MT"/>
              </a:rPr>
              <a:t>Reports</a:t>
            </a:r>
            <a:r>
              <a:rPr dirty="0" sz="950" spc="40">
                <a:solidFill>
                  <a:srgbClr val="56B6F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68EDF"/>
                </a:solidFill>
                <a:latin typeface="Arial MT"/>
                <a:cs typeface="Arial MT"/>
              </a:rPr>
              <a:t>should</a:t>
            </a:r>
            <a:r>
              <a:rPr dirty="0" sz="950" spc="45">
                <a:solidFill>
                  <a:srgbClr val="268ED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56B6"/>
                </a:solidFill>
                <a:latin typeface="Arial MT"/>
                <a:cs typeface="Arial MT"/>
              </a:rPr>
              <a:t>allow </a:t>
            </a:r>
            <a:r>
              <a:rPr dirty="0" sz="950">
                <a:solidFill>
                  <a:srgbClr val="56B6FF"/>
                </a:solidFill>
                <a:latin typeface="Arial MT"/>
                <a:cs typeface="Arial MT"/>
              </a:rPr>
              <a:t>filters,</a:t>
            </a:r>
            <a:r>
              <a:rPr dirty="0" sz="950" spc="30">
                <a:solidFill>
                  <a:srgbClr val="56B6FF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drill-</a:t>
            </a:r>
            <a:r>
              <a:rPr dirty="0" sz="950">
                <a:latin typeface="Arial MT"/>
                <a:cs typeface="Arial MT"/>
              </a:rPr>
              <a:t>downs,</a:t>
            </a:r>
            <a:r>
              <a:rPr dirty="0" sz="950" spc="60"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56B6"/>
                </a:solidFill>
                <a:latin typeface="Arial MT"/>
                <a:cs typeface="Arial MT"/>
              </a:rPr>
              <a:t>and</a:t>
            </a:r>
            <a:r>
              <a:rPr dirty="0" sz="950" spc="30">
                <a:solidFill>
                  <a:srgbClr val="0056B6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segmentation</a:t>
            </a:r>
            <a:endParaRPr sz="950">
              <a:latin typeface="Arial MT"/>
              <a:cs typeface="Arial MT"/>
            </a:endParaRPr>
          </a:p>
          <a:p>
            <a:pPr marL="22225">
              <a:lnSpc>
                <a:spcPct val="100000"/>
              </a:lnSpc>
              <a:spcBef>
                <a:spcPts val="260"/>
              </a:spcBef>
            </a:pPr>
            <a:r>
              <a:rPr dirty="0" sz="950">
                <a:solidFill>
                  <a:srgbClr val="16C60C"/>
                </a:solidFill>
                <a:latin typeface="Arial MT"/>
                <a:cs typeface="Arial MT"/>
              </a:rPr>
              <a:t>@</a:t>
            </a:r>
            <a:r>
              <a:rPr dirty="0" sz="950" spc="225">
                <a:solidFill>
                  <a:srgbClr val="16C60C"/>
                </a:solidFill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Analysis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68EDF"/>
                </a:solidFill>
                <a:latin typeface="Arial MT"/>
                <a:cs typeface="Arial MT"/>
              </a:rPr>
              <a:t>should </a:t>
            </a:r>
            <a:r>
              <a:rPr dirty="0" sz="950" spc="-50">
                <a:solidFill>
                  <a:srgbClr val="00268E"/>
                </a:solidFill>
                <a:latin typeface="Arial MT"/>
                <a:cs typeface="Arial MT"/>
              </a:rPr>
              <a:t>De</a:t>
            </a:r>
            <a:r>
              <a:rPr dirty="0" sz="950" spc="50">
                <a:solidFill>
                  <a:srgbClr val="00268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B65600"/>
                </a:solidFill>
                <a:latin typeface="Arial MT"/>
                <a:cs typeface="Arial MT"/>
              </a:rPr>
              <a:t>actionable</a:t>
            </a:r>
            <a:r>
              <a:rPr dirty="0" sz="950" spc="90">
                <a:solidFill>
                  <a:srgbClr val="B65600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B65600"/>
                </a:solidFill>
                <a:latin typeface="Arial MT"/>
                <a:cs typeface="Arial MT"/>
              </a:rPr>
              <a:t>and</a:t>
            </a:r>
            <a:r>
              <a:rPr dirty="0" sz="950" spc="-10">
                <a:solidFill>
                  <a:srgbClr val="B65600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68EDF"/>
                </a:solidFill>
                <a:latin typeface="Arial MT"/>
                <a:cs typeface="Arial MT"/>
              </a:rPr>
              <a:t>relevant</a:t>
            </a:r>
            <a:r>
              <a:rPr dirty="0" sz="950" spc="30">
                <a:solidFill>
                  <a:srgbClr val="268ED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68EDF"/>
                </a:solidFill>
                <a:latin typeface="Arial MT"/>
                <a:cs typeface="Arial MT"/>
              </a:rPr>
              <a:t>for</a:t>
            </a:r>
            <a:r>
              <a:rPr dirty="0" sz="950" spc="-15">
                <a:solidFill>
                  <a:srgbClr val="268EDF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56B6FF"/>
                </a:solidFill>
                <a:latin typeface="Arial MT"/>
                <a:cs typeface="Arial MT"/>
              </a:rPr>
              <a:t>financial</a:t>
            </a:r>
            <a:r>
              <a:rPr dirty="0" sz="950" spc="5">
                <a:solidFill>
                  <a:srgbClr val="56B6FF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decision-making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95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dirty="0" sz="1700">
                <a:solidFill>
                  <a:srgbClr val="3497DB"/>
                </a:solidFill>
                <a:latin typeface="Arial MT"/>
                <a:cs typeface="Arial MT"/>
              </a:rPr>
              <a:t>Expected</a:t>
            </a:r>
            <a:r>
              <a:rPr dirty="0" sz="1700" spc="285">
                <a:solidFill>
                  <a:srgbClr val="3497DB"/>
                </a:solidFill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3497DB"/>
                </a:solidFill>
                <a:latin typeface="Arial MT"/>
                <a:cs typeface="Arial MT"/>
              </a:rPr>
              <a:t>Deliverables</a:t>
            </a:r>
            <a:endParaRPr sz="1700">
              <a:latin typeface="Arial MT"/>
              <a:cs typeface="Arial MT"/>
            </a:endParaRPr>
          </a:p>
          <a:p>
            <a:pPr marL="15875">
              <a:lnSpc>
                <a:spcPct val="100000"/>
              </a:lnSpc>
              <a:spcBef>
                <a:spcPts val="985"/>
              </a:spcBef>
            </a:pPr>
            <a:r>
              <a:rPr dirty="0" sz="950">
                <a:latin typeface="Arial MT"/>
                <a:cs typeface="Arial MT"/>
              </a:rPr>
              <a:t>1. SQL</a:t>
            </a:r>
            <a:r>
              <a:rPr dirty="0" sz="950" spc="2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Queries:</a:t>
            </a: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1000">
                <a:solidFill>
                  <a:srgbClr val="56B6FF"/>
                </a:solidFill>
                <a:latin typeface="Arial MT"/>
                <a:cs typeface="Arial MT"/>
              </a:rPr>
              <a:t>A</a:t>
            </a:r>
            <a:r>
              <a:rPr dirty="0" sz="1000" spc="-70">
                <a:solidFill>
                  <a:srgbClr val="56B6FF"/>
                </a:solidFill>
                <a:latin typeface="Arial MT"/>
                <a:cs typeface="Arial MT"/>
              </a:rPr>
              <a:t> </a:t>
            </a:r>
            <a:r>
              <a:rPr dirty="0" sz="1000" spc="-30">
                <a:solidFill>
                  <a:srgbClr val="560000"/>
                </a:solidFill>
                <a:latin typeface="Arial MT"/>
                <a:cs typeface="Arial MT"/>
              </a:rPr>
              <a:t>complete</a:t>
            </a:r>
            <a:r>
              <a:rPr dirty="0" sz="1000" spc="-40">
                <a:solidFill>
                  <a:srgbClr val="560000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68EDF"/>
                </a:solidFill>
                <a:latin typeface="Arial MT"/>
                <a:cs typeface="Arial MT"/>
              </a:rPr>
              <a:t>set</a:t>
            </a:r>
            <a:r>
              <a:rPr dirty="0" sz="1000" spc="-60">
                <a:solidFill>
                  <a:srgbClr val="268ED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056B6"/>
                </a:solidFill>
                <a:latin typeface="Arial MT"/>
                <a:cs typeface="Arial MT"/>
              </a:rPr>
              <a:t>of</a:t>
            </a:r>
            <a:r>
              <a:rPr dirty="0" sz="1000" spc="-65">
                <a:solidFill>
                  <a:srgbClr val="0056B6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0056B6"/>
                </a:solidFill>
                <a:latin typeface="Arial MT"/>
                <a:cs typeface="Arial MT"/>
              </a:rPr>
              <a:t>queries</a:t>
            </a:r>
            <a:r>
              <a:rPr dirty="0" sz="1000" spc="-35">
                <a:solidFill>
                  <a:srgbClr val="0056B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6B6FF"/>
                </a:solidFill>
                <a:latin typeface="Arial MT"/>
                <a:cs typeface="Arial MT"/>
              </a:rPr>
              <a:t>in</a:t>
            </a:r>
            <a:r>
              <a:rPr dirty="0" sz="1000" spc="-10">
                <a:solidFill>
                  <a:srgbClr val="56B6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B65600"/>
                </a:solidFill>
                <a:latin typeface="Arial MT"/>
                <a:cs typeface="Arial MT"/>
              </a:rPr>
              <a:t>a</a:t>
            </a:r>
            <a:r>
              <a:rPr dirty="0" sz="1000" spc="-15">
                <a:solidFill>
                  <a:srgbClr val="B65600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000056"/>
                </a:solidFill>
                <a:latin typeface="Arial MT"/>
                <a:cs typeface="Arial MT"/>
              </a:rPr>
              <a:t>well</a:t>
            </a:r>
            <a:r>
              <a:rPr dirty="0" sz="1000" spc="-25">
                <a:solidFill>
                  <a:srgbClr val="000056"/>
                </a:solidFill>
                <a:latin typeface="Arial MT"/>
                <a:cs typeface="Arial MT"/>
              </a:rPr>
              <a:t> </a:t>
            </a:r>
            <a:r>
              <a:rPr dirty="0" sz="1000" spc="-30">
                <a:solidFill>
                  <a:srgbClr val="560000"/>
                </a:solidFill>
                <a:latin typeface="Arial MT"/>
                <a:cs typeface="Arial MT"/>
              </a:rPr>
              <a:t>presented</a:t>
            </a:r>
            <a:r>
              <a:rPr dirty="0" sz="1000" spc="20">
                <a:solidFill>
                  <a:srgbClr val="56000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6B6FF"/>
                </a:solidFill>
                <a:latin typeface="Arial MT"/>
                <a:cs typeface="Arial MT"/>
              </a:rPr>
              <a:t>PPT</a:t>
            </a:r>
            <a:r>
              <a:rPr dirty="0" sz="1000" spc="-15">
                <a:solidFill>
                  <a:srgbClr val="56B6FF"/>
                </a:solidFill>
                <a:latin typeface="Arial MT"/>
                <a:cs typeface="Arial MT"/>
              </a:rPr>
              <a:t> </a:t>
            </a:r>
            <a:r>
              <a:rPr dirty="0" sz="1000" spc="-30">
                <a:solidFill>
                  <a:srgbClr val="0056B6"/>
                </a:solidFill>
                <a:latin typeface="Arial MT"/>
                <a:cs typeface="Arial MT"/>
              </a:rPr>
              <a:t>addressing</a:t>
            </a:r>
            <a:r>
              <a:rPr dirty="0" sz="1000" spc="55">
                <a:solidFill>
                  <a:srgbClr val="0056B6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all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560000"/>
                </a:solidFill>
                <a:latin typeface="Arial MT"/>
                <a:cs typeface="Arial MT"/>
              </a:rPr>
              <a:t>the</a:t>
            </a:r>
            <a:r>
              <a:rPr dirty="0" sz="1000" spc="-30">
                <a:solidFill>
                  <a:srgbClr val="560000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560000"/>
                </a:solidFill>
                <a:latin typeface="Arial MT"/>
                <a:cs typeface="Arial MT"/>
              </a:rPr>
              <a:t>tasks</a:t>
            </a:r>
            <a:r>
              <a:rPr dirty="0" sz="1000" spc="-45">
                <a:solidFill>
                  <a:srgbClr val="56000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056B6"/>
                </a:solidFill>
                <a:latin typeface="Arial MT"/>
                <a:cs typeface="Arial MT"/>
              </a:rPr>
              <a:t>in</a:t>
            </a:r>
            <a:r>
              <a:rPr dirty="0" sz="1000" spc="-60">
                <a:solidFill>
                  <a:srgbClr val="0056B6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00268E"/>
                </a:solidFill>
                <a:latin typeface="Arial MT"/>
                <a:cs typeface="Arial MT"/>
              </a:rPr>
              <a:t>Phase</a:t>
            </a:r>
            <a:r>
              <a:rPr dirty="0" sz="1000" spc="-15">
                <a:solidFill>
                  <a:srgbClr val="00268E"/>
                </a:solidFill>
                <a:latin typeface="Arial MT"/>
                <a:cs typeface="Arial MT"/>
              </a:rPr>
              <a:t> </a:t>
            </a:r>
            <a:r>
              <a:rPr dirty="0" sz="1000" spc="-50">
                <a:solidFill>
                  <a:srgbClr val="0056B6"/>
                </a:solidFill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848" y="4107808"/>
            <a:ext cx="7454900" cy="238315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47320" indent="-130175">
              <a:lnSpc>
                <a:spcPct val="100000"/>
              </a:lnSpc>
              <a:spcBef>
                <a:spcPts val="425"/>
              </a:spcBef>
              <a:buAutoNum type="arabicPeriod" startAt="2"/>
              <a:tabLst>
                <a:tab pos="147320" algn="l"/>
              </a:tabLst>
            </a:pPr>
            <a:r>
              <a:rPr dirty="0" sz="950" spc="20">
                <a:latin typeface="Arial MT"/>
                <a:cs typeface="Arial MT"/>
              </a:rPr>
              <a:t>lntemctive</a:t>
            </a:r>
            <a:r>
              <a:rPr dirty="0" sz="950" spc="2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Dash</a:t>
            </a:r>
            <a:r>
              <a:rPr dirty="0" sz="950" spc="-6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board:</a:t>
            </a: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950">
                <a:solidFill>
                  <a:srgbClr val="00268E"/>
                </a:solidFill>
                <a:latin typeface="Arial MT"/>
                <a:cs typeface="Arial MT"/>
              </a:rPr>
              <a:t>A</a:t>
            </a:r>
            <a:r>
              <a:rPr dirty="0" sz="950" spc="-70">
                <a:solidFill>
                  <a:srgbClr val="00268E"/>
                </a:solidFill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visually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compelling</a:t>
            </a:r>
            <a:r>
              <a:rPr dirty="0" sz="950" spc="7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and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interactive</a:t>
            </a:r>
            <a:r>
              <a:rPr dirty="0" sz="950" spc="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dashboard</a:t>
            </a:r>
            <a:r>
              <a:rPr dirty="0" sz="950" spc="45"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60026"/>
                </a:solidFill>
                <a:latin typeface="Arial MT"/>
                <a:cs typeface="Arial MT"/>
              </a:rPr>
              <a:t>in</a:t>
            </a:r>
            <a:r>
              <a:rPr dirty="0" sz="950" spc="-35">
                <a:solidFill>
                  <a:srgbClr val="260026"/>
                </a:solidFill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Power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BI/Tableau</a:t>
            </a:r>
            <a:r>
              <a:rPr dirty="0" sz="950" spc="4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showcasing</a:t>
            </a:r>
            <a:r>
              <a:rPr dirty="0" sz="950" spc="5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airline</a:t>
            </a:r>
            <a:r>
              <a:rPr dirty="0" sz="950" spc="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performance</a:t>
            </a:r>
            <a:r>
              <a:rPr dirty="0" sz="950" spc="3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insights.</a:t>
            </a:r>
            <a:r>
              <a:rPr dirty="0" sz="950" spc="-6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Attach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56B6"/>
                </a:solidFill>
                <a:latin typeface="Arial MT"/>
                <a:cs typeface="Arial MT"/>
              </a:rPr>
              <a:t>multiple</a:t>
            </a:r>
            <a:r>
              <a:rPr dirty="0" sz="950" spc="50">
                <a:solidFill>
                  <a:srgbClr val="0056B6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screenshots</a:t>
            </a:r>
            <a:endParaRPr sz="95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268EDF"/>
                </a:solidFill>
                <a:latin typeface="Cambria"/>
                <a:cs typeface="Cambria"/>
              </a:rPr>
              <a:t>of</a:t>
            </a:r>
            <a:r>
              <a:rPr dirty="0" sz="1050" spc="55">
                <a:solidFill>
                  <a:srgbClr val="268EDF"/>
                </a:solidFill>
                <a:latin typeface="Cambria"/>
                <a:cs typeface="Cambria"/>
              </a:rPr>
              <a:t> </a:t>
            </a:r>
            <a:r>
              <a:rPr dirty="0" sz="1050" spc="-100">
                <a:latin typeface="Cambria"/>
                <a:cs typeface="Cambria"/>
              </a:rPr>
              <a:t>you</a:t>
            </a:r>
            <a:r>
              <a:rPr dirty="0" sz="1050" spc="-70">
                <a:latin typeface="Cambria"/>
                <a:cs typeface="Cambria"/>
              </a:rPr>
              <a:t> </a:t>
            </a:r>
            <a:r>
              <a:rPr dirty="0" sz="1050" spc="-220">
                <a:solidFill>
                  <a:srgbClr val="00268E"/>
                </a:solidFill>
                <a:latin typeface="Cambria"/>
                <a:cs typeface="Cambria"/>
              </a:rPr>
              <a:t>r</a:t>
            </a:r>
            <a:r>
              <a:rPr dirty="0" sz="1050" spc="65">
                <a:solidFill>
                  <a:srgbClr val="00268E"/>
                </a:solidFill>
                <a:latin typeface="Cambria"/>
                <a:cs typeface="Cambria"/>
              </a:rPr>
              <a:t> </a:t>
            </a:r>
            <a:r>
              <a:rPr dirty="0" sz="1050" spc="-45">
                <a:latin typeface="Cambria"/>
                <a:cs typeface="Cambria"/>
              </a:rPr>
              <a:t>dasfi</a:t>
            </a:r>
            <a:r>
              <a:rPr dirty="0" sz="1050" spc="-50">
                <a:latin typeface="Cambria"/>
                <a:cs typeface="Cambria"/>
              </a:rPr>
              <a:t> </a:t>
            </a:r>
            <a:r>
              <a:rPr dirty="0" sz="1050" spc="-10">
                <a:latin typeface="Cambria"/>
                <a:cs typeface="Cambria"/>
              </a:rPr>
              <a:t>t›oard</a:t>
            </a:r>
            <a:endParaRPr sz="10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050">
              <a:latin typeface="Cambria"/>
              <a:cs typeface="Cambria"/>
            </a:endParaRPr>
          </a:p>
          <a:p>
            <a:pPr marL="146685" indent="-130810">
              <a:lnSpc>
                <a:spcPct val="100000"/>
              </a:lnSpc>
              <a:buAutoNum type="arabicPeriod" startAt="3"/>
              <a:tabLst>
                <a:tab pos="146685" algn="l"/>
              </a:tabLst>
            </a:pPr>
            <a:r>
              <a:rPr dirty="0" sz="900" spc="45">
                <a:latin typeface="Arial MT"/>
                <a:cs typeface="Arial MT"/>
              </a:rPr>
              <a:t>Machine</a:t>
            </a:r>
            <a:r>
              <a:rPr dirty="0" sz="900" spc="275">
                <a:latin typeface="Arial MT"/>
                <a:cs typeface="Arial MT"/>
              </a:rPr>
              <a:t> </a:t>
            </a:r>
            <a:r>
              <a:rPr dirty="0" sz="900" spc="10">
                <a:latin typeface="Arial MT"/>
                <a:cs typeface="Arial MT"/>
              </a:rPr>
              <a:t>Learning</a:t>
            </a:r>
            <a:r>
              <a:rPr dirty="0" sz="900" spc="245">
                <a:latin typeface="Arial MT"/>
                <a:cs typeface="Arial MT"/>
              </a:rPr>
              <a:t> </a:t>
            </a:r>
            <a:r>
              <a:rPr dirty="0" sz="900" spc="50">
                <a:latin typeface="Arial MT"/>
                <a:cs typeface="Arial MT"/>
              </a:rPr>
              <a:t>Model: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5"/>
              </a:spcBef>
              <a:buAutoNum type="arabicPeriod" startAt="3"/>
            </a:pPr>
            <a:endParaRPr sz="900">
              <a:latin typeface="Arial MT"/>
              <a:cs typeface="Arial MT"/>
            </a:endParaRPr>
          </a:p>
          <a:p>
            <a:pPr lvl="1" marL="297815" indent="-165100">
              <a:lnSpc>
                <a:spcPct val="100000"/>
              </a:lnSpc>
              <a:buClr>
                <a:srgbClr val="4F596B"/>
              </a:buClr>
              <a:buChar char="•"/>
              <a:tabLst>
                <a:tab pos="297815" algn="l"/>
              </a:tabLst>
            </a:pPr>
            <a:r>
              <a:rPr dirty="0" sz="950" spc="10">
                <a:latin typeface="Arial MT"/>
                <a:cs typeface="Arial MT"/>
              </a:rPr>
              <a:t>Python</a:t>
            </a:r>
            <a:r>
              <a:rPr dirty="0" sz="950" spc="12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code</a:t>
            </a:r>
            <a:r>
              <a:rPr dirty="0" sz="950" spc="21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for</a:t>
            </a:r>
            <a:r>
              <a:rPr dirty="0" sz="950" spc="18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preprocessing</a:t>
            </a:r>
            <a:r>
              <a:rPr dirty="0" sz="950" spc="254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and</a:t>
            </a:r>
            <a:r>
              <a:rPr dirty="0" sz="950" spc="2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train</a:t>
            </a:r>
            <a:r>
              <a:rPr dirty="0" sz="950" spc="-114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ing</a:t>
            </a:r>
            <a:r>
              <a:rPr dirty="0" sz="950" spc="229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the</a:t>
            </a:r>
            <a:r>
              <a:rPr dirty="0" sz="950" spc="204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predictive</a:t>
            </a:r>
            <a:r>
              <a:rPr dirty="0" sz="950" spc="24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model.</a:t>
            </a:r>
            <a:endParaRPr sz="950">
              <a:latin typeface="Arial MT"/>
              <a:cs typeface="Arial MT"/>
            </a:endParaRPr>
          </a:p>
          <a:p>
            <a:pPr lvl="1" marL="299085" indent="-166370">
              <a:lnSpc>
                <a:spcPct val="100000"/>
              </a:lnSpc>
              <a:spcBef>
                <a:spcPts val="730"/>
              </a:spcBef>
              <a:buClr>
                <a:srgbClr val="4F596B"/>
              </a:buClr>
              <a:buChar char="•"/>
              <a:tabLst>
                <a:tab pos="299085" algn="l"/>
              </a:tabLst>
            </a:pPr>
            <a:r>
              <a:rPr dirty="0" sz="950" spc="10">
                <a:solidFill>
                  <a:srgbClr val="000026"/>
                </a:solidFill>
                <a:latin typeface="Arial MT"/>
                <a:cs typeface="Arial MT"/>
              </a:rPr>
              <a:t>A</a:t>
            </a:r>
            <a:r>
              <a:rPr dirty="0" sz="950" spc="70">
                <a:solidFill>
                  <a:srgbClr val="000026"/>
                </a:solidFill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detailed</a:t>
            </a:r>
            <a:r>
              <a:rPr dirty="0" sz="950" spc="21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evaluation</a:t>
            </a:r>
            <a:r>
              <a:rPr dirty="0" sz="950" spc="31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report</a:t>
            </a:r>
            <a:r>
              <a:rPr dirty="0" sz="950" spc="20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of</a:t>
            </a:r>
            <a:r>
              <a:rPr dirty="0" sz="950" spc="13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the</a:t>
            </a:r>
            <a:r>
              <a:rPr dirty="0" sz="950" spc="8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model's</a:t>
            </a:r>
            <a:r>
              <a:rPr dirty="0" sz="950" spc="204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performance</a:t>
            </a:r>
            <a:r>
              <a:rPr dirty="0" sz="950" spc="19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is</a:t>
            </a:r>
            <a:r>
              <a:rPr dirty="0" sz="950" spc="180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provided.</a:t>
            </a:r>
            <a:endParaRPr sz="95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20"/>
              </a:spcBef>
              <a:buClr>
                <a:srgbClr val="4F596B"/>
              </a:buClr>
              <a:buFont typeface="Arial MT"/>
              <a:buChar char="•"/>
            </a:pPr>
            <a:endParaRPr sz="950">
              <a:latin typeface="Arial MT"/>
              <a:cs typeface="Arial MT"/>
            </a:endParaRPr>
          </a:p>
          <a:p>
            <a:pPr marL="144145" indent="-125095">
              <a:lnSpc>
                <a:spcPct val="100000"/>
              </a:lnSpc>
              <a:buAutoNum type="arabicPeriod" startAt="3"/>
              <a:tabLst>
                <a:tab pos="144145" algn="l"/>
              </a:tabLst>
            </a:pPr>
            <a:r>
              <a:rPr dirty="0" sz="900" spc="65">
                <a:latin typeface="Arial MT"/>
                <a:cs typeface="Arial MT"/>
              </a:rPr>
              <a:t>Insights</a:t>
            </a:r>
            <a:r>
              <a:rPr dirty="0" sz="900" spc="1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Report: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5"/>
              </a:spcBef>
              <a:buAutoNum type="arabicPeriod" startAt="3"/>
            </a:pPr>
            <a:endParaRPr sz="900">
              <a:latin typeface="Arial MT"/>
              <a:cs typeface="Arial MT"/>
            </a:endParaRPr>
          </a:p>
          <a:p>
            <a:pPr lvl="1" marL="301625" indent="-168910">
              <a:lnSpc>
                <a:spcPct val="100000"/>
              </a:lnSpc>
              <a:spcBef>
                <a:spcPts val="5"/>
              </a:spcBef>
              <a:buClr>
                <a:srgbClr val="4F596B"/>
              </a:buClr>
              <a:buChar char="•"/>
              <a:tabLst>
                <a:tab pos="301625" algn="l"/>
              </a:tabLst>
            </a:pPr>
            <a:r>
              <a:rPr dirty="0" sz="950" spc="10">
                <a:latin typeface="Arial MT"/>
                <a:cs typeface="Arial MT"/>
              </a:rPr>
              <a:t>Comprehensive</a:t>
            </a:r>
            <a:r>
              <a:rPr dirty="0" sz="950" spc="36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summary</a:t>
            </a:r>
            <a:r>
              <a:rPr dirty="0" sz="950" spc="34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of</a:t>
            </a:r>
            <a:r>
              <a:rPr dirty="0" sz="950" spc="14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findings</a:t>
            </a:r>
            <a:r>
              <a:rPr dirty="0" sz="950" spc="20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from</a:t>
            </a:r>
            <a:r>
              <a:rPr dirty="0" sz="950" spc="254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SQL</a:t>
            </a:r>
            <a:r>
              <a:rPr dirty="0" sz="950" spc="13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analysis</a:t>
            </a:r>
            <a:r>
              <a:rPr dirty="0" sz="950" spc="1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and</a:t>
            </a:r>
            <a:r>
              <a:rPr dirty="0" sz="950" spc="18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visualizations.</a:t>
            </a:r>
            <a:endParaRPr sz="950">
              <a:latin typeface="Arial MT"/>
              <a:cs typeface="Arial MT"/>
            </a:endParaRPr>
          </a:p>
          <a:p>
            <a:pPr lvl="1" marL="299085" indent="-166370">
              <a:lnSpc>
                <a:spcPct val="100000"/>
              </a:lnSpc>
              <a:spcBef>
                <a:spcPts val="795"/>
              </a:spcBef>
              <a:buClr>
                <a:srgbClr val="4F596B"/>
              </a:buClr>
              <a:buChar char="•"/>
              <a:tabLst>
                <a:tab pos="299085" algn="l"/>
              </a:tabLst>
            </a:pPr>
            <a:r>
              <a:rPr dirty="0" sz="950" spc="10">
                <a:latin typeface="Arial MT"/>
                <a:cs typeface="Arial MT"/>
              </a:rPr>
              <a:t>Actionable</a:t>
            </a:r>
            <a:r>
              <a:rPr dirty="0" sz="950" spc="275">
                <a:latin typeface="Arial MT"/>
                <a:cs typeface="Arial MT"/>
              </a:rPr>
              <a:t> </a:t>
            </a:r>
            <a:r>
              <a:rPr dirty="0" sz="950" spc="50">
                <a:latin typeface="Arial MT"/>
                <a:cs typeface="Arial MT"/>
              </a:rPr>
              <a:t>recommendations</a:t>
            </a:r>
            <a:r>
              <a:rPr dirty="0" sz="950" spc="8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for</a:t>
            </a:r>
            <a:r>
              <a:rPr dirty="0" sz="950" spc="11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airlines</a:t>
            </a:r>
            <a:r>
              <a:rPr dirty="0" sz="950" spc="19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to</a:t>
            </a:r>
            <a:r>
              <a:rPr dirty="0" sz="950" spc="16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reduce</a:t>
            </a:r>
            <a:r>
              <a:rPr dirty="0" sz="950" spc="25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delays,</a:t>
            </a:r>
            <a:r>
              <a:rPr dirty="0" sz="950" spc="20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optimize</a:t>
            </a:r>
            <a:r>
              <a:rPr dirty="0" sz="950" spc="19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opemtions,</a:t>
            </a:r>
            <a:r>
              <a:rPr dirty="0" sz="950" spc="26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and</a:t>
            </a:r>
            <a:r>
              <a:rPr dirty="0" sz="950" spc="190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enhance</a:t>
            </a:r>
            <a:r>
              <a:rPr dirty="0" sz="950" spc="285">
                <a:latin typeface="Arial MT"/>
                <a:cs typeface="Arial MT"/>
              </a:rPr>
              <a:t> </a:t>
            </a:r>
            <a:r>
              <a:rPr dirty="0" sz="950" spc="10">
                <a:latin typeface="Arial MT"/>
                <a:cs typeface="Arial MT"/>
              </a:rPr>
              <a:t>customer</a:t>
            </a:r>
            <a:r>
              <a:rPr dirty="0" sz="950" spc="200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experience.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2026-02-14T15:01:55Z</dcterms:created>
  <dcterms:modified xsi:type="dcterms:W3CDTF">2026-02-14T15:01:55Z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2026-02-14T00:00:00Z</vt:filetime>
  </property>
  <property fmtid="{D5CDD505-2E9C-101B-9397-08002B2CF9AE}" pid="3" name="LastSaved">
    <vt:filetime>2026-02-14T00:00:00Z</vt:filetime>
  </property>
  <property fmtid="{D5CDD505-2E9C-101B-9397-08002B2CF9AE}" pid="4" name="Producer">
    <vt:lpwstr>iLovePDF</vt:lpwstr>
  </property>
</Properties>
</file>